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3850" r:id="rId4"/>
    <p:sldId id="3846" r:id="rId5"/>
    <p:sldId id="3851" r:id="rId6"/>
    <p:sldId id="3842" r:id="rId7"/>
    <p:sldId id="3839" r:id="rId8"/>
    <p:sldId id="3847" r:id="rId9"/>
    <p:sldId id="3848" r:id="rId10"/>
    <p:sldId id="3849" r:id="rId11"/>
    <p:sldId id="3852" r:id="rId12"/>
    <p:sldId id="262" r:id="rId13"/>
    <p:sldId id="3845" r:id="rId14"/>
    <p:sldId id="261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438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7920"/>
    <a:srgbClr val="1A2A5E"/>
    <a:srgbClr val="1A567B"/>
    <a:srgbClr val="0086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01"/>
    <p:restoredTop sz="94662"/>
  </p:normalViewPr>
  <p:slideViewPr>
    <p:cSldViewPr snapToGrid="0" showGuides="1">
      <p:cViewPr>
        <p:scale>
          <a:sx n="111" d="100"/>
          <a:sy n="111" d="100"/>
        </p:scale>
        <p:origin x="648" y="144"/>
      </p:cViewPr>
      <p:guideLst>
        <p:guide pos="438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121" d="100"/>
          <a:sy n="121" d="100"/>
        </p:scale>
        <p:origin x="49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83F13B-35F0-48BE-8E9E-B4FD5EF7567C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D340DF-83E5-4C23-8542-75E91AAD91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975469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1116F8-DA66-4CBE-947F-30D478866331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EFD793-7961-4368-8709-300BC3E89F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02027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>
          <a:extLst>
            <a:ext uri="{FF2B5EF4-FFF2-40B4-BE49-F238E27FC236}">
              <a16:creationId xmlns:a16="http://schemas.microsoft.com/office/drawing/2014/main" id="{5840FD39-1595-5600-3C59-09B719646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:notes">
            <a:extLst>
              <a:ext uri="{FF2B5EF4-FFF2-40B4-BE49-F238E27FC236}">
                <a16:creationId xmlns:a16="http://schemas.microsoft.com/office/drawing/2014/main" id="{E5746C43-3FC5-9BD9-B6BF-EF323B1E30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3" name="Google Shape;163;p2:notes">
            <a:extLst>
              <a:ext uri="{FF2B5EF4-FFF2-40B4-BE49-F238E27FC236}">
                <a16:creationId xmlns:a16="http://schemas.microsoft.com/office/drawing/2014/main" id="{2A6F19C5-4581-71A1-F144-905F95083F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24075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>
          <a:extLst>
            <a:ext uri="{FF2B5EF4-FFF2-40B4-BE49-F238E27FC236}">
              <a16:creationId xmlns:a16="http://schemas.microsoft.com/office/drawing/2014/main" id="{5840FD39-1595-5600-3C59-09B719646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:notes">
            <a:extLst>
              <a:ext uri="{FF2B5EF4-FFF2-40B4-BE49-F238E27FC236}">
                <a16:creationId xmlns:a16="http://schemas.microsoft.com/office/drawing/2014/main" id="{E5746C43-3FC5-9BD9-B6BF-EF323B1E30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:notes">
            <a:extLst>
              <a:ext uri="{FF2B5EF4-FFF2-40B4-BE49-F238E27FC236}">
                <a16:creationId xmlns:a16="http://schemas.microsoft.com/office/drawing/2014/main" id="{2A6F19C5-4581-71A1-F144-905F95083F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27935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6268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8523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emf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emf"/><Relationship Id="rId4" Type="http://schemas.openxmlformats.org/officeDocument/2006/relationships/image" Target="../media/image3.jpe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BEF1A2F-7BEC-4110-B566-6FE71B0AA6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8011" y="0"/>
            <a:ext cx="9773989" cy="6858000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5B7210DD-6D26-4D36-AE40-FFE3C1C256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6344" y="1634427"/>
            <a:ext cx="7039356" cy="2387600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rgbClr val="1A567B"/>
                </a:solidFill>
                <a:latin typeface="+mj-lt"/>
              </a:defRPr>
            </a:lvl1pPr>
          </a:lstStyle>
          <a:p>
            <a:r>
              <a:rPr lang="ru-RU" dirty="0"/>
              <a:t>Анализ математических методов и моделей, применяемых в маркетинговых исследованиях</a:t>
            </a:r>
            <a:br>
              <a:rPr lang="ru-RU" dirty="0"/>
            </a:b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9696D6D3-4294-47F1-BBE5-D7C78EAB7CD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6344" y="4800444"/>
            <a:ext cx="5897880" cy="1653856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Работы выполнил: </a:t>
            </a:r>
          </a:p>
          <a:p>
            <a:r>
              <a:rPr lang="ru-RU" dirty="0"/>
              <a:t>студент группы УПМ-411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>
                <a:solidFill>
                  <a:srgbClr val="1A567B"/>
                </a:solidFill>
              </a:rPr>
              <a:t>Иванов Иван Иванович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ru-RU" dirty="0">
              <a:solidFill>
                <a:srgbClr val="1A567B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Руководитель бакалаврской работы: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>
                <a:solidFill>
                  <a:srgbClr val="1A567B"/>
                </a:solidFill>
              </a:rPr>
              <a:t>Петров Владимир</a:t>
            </a:r>
            <a:r>
              <a:rPr lang="ru-RU" baseline="0" dirty="0">
                <a:solidFill>
                  <a:srgbClr val="1A567B"/>
                </a:solidFill>
              </a:rPr>
              <a:t> Владимирович, д.т.н., проф.</a:t>
            </a:r>
            <a:endParaRPr lang="ru-RU" dirty="0">
              <a:solidFill>
                <a:srgbClr val="1A567B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ru-RU" dirty="0">
              <a:solidFill>
                <a:srgbClr val="1A567B"/>
              </a:solidFill>
            </a:endParaRPr>
          </a:p>
          <a:p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40C38A-A644-416F-A3C2-50002ABEE44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44" y="375375"/>
            <a:ext cx="2778749" cy="65595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FC48ED8-0626-4618-B2A3-3882BDC146C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496" y="333531"/>
            <a:ext cx="2216920" cy="70489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3831929-E9B5-1346-9974-4CB326EA3FF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004819" y="375375"/>
            <a:ext cx="3309421" cy="704895"/>
          </a:xfrm>
          <a:prstGeom prst="rect">
            <a:avLst/>
          </a:prstGeom>
        </p:spPr>
      </p:pic>
      <p:sp>
        <p:nvSpPr>
          <p:cNvPr id="14" name="Подзаголовок 2">
            <a:extLst>
              <a:ext uri="{FF2B5EF4-FFF2-40B4-BE49-F238E27FC236}">
                <a16:creationId xmlns:a16="http://schemas.microsoft.com/office/drawing/2014/main" id="{9696D6D3-4294-47F1-BBE5-D7C78EAB7CD8}"/>
              </a:ext>
            </a:extLst>
          </p:cNvPr>
          <p:cNvSpPr txBox="1">
            <a:spLocks/>
          </p:cNvSpPr>
          <p:nvPr userDrawn="1"/>
        </p:nvSpPr>
        <p:spPr>
          <a:xfrm>
            <a:off x="466344" y="4868482"/>
            <a:ext cx="5897880" cy="4620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1A567B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77273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76209E8-A8B2-4136-A615-86B639B24DBE}"/>
              </a:ext>
            </a:extLst>
          </p:cNvPr>
          <p:cNvSpPr/>
          <p:nvPr userDrawn="1"/>
        </p:nvSpPr>
        <p:spPr>
          <a:xfrm>
            <a:off x="0" y="6311900"/>
            <a:ext cx="12191976" cy="546100"/>
          </a:xfrm>
          <a:prstGeom prst="rect">
            <a:avLst/>
          </a:prstGeom>
          <a:solidFill>
            <a:srgbClr val="0086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8" name="Объект 14">
            <a:extLst>
              <a:ext uri="{FF2B5EF4-FFF2-40B4-BE49-F238E27FC236}">
                <a16:creationId xmlns:a16="http://schemas.microsoft.com/office/drawing/2014/main" id="{F8E8FC25-8594-42B9-9F09-06FBDC4F98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2176" y="6338773"/>
            <a:ext cx="685696" cy="5192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9B4C49-3649-4A6C-A3D2-202B6CE7836B}"/>
              </a:ext>
            </a:extLst>
          </p:cNvPr>
          <p:cNvSpPr txBox="1"/>
          <p:nvPr userDrawn="1"/>
        </p:nvSpPr>
        <p:spPr>
          <a:xfrm>
            <a:off x="8255996" y="6394311"/>
            <a:ext cx="2881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solidFill>
                  <a:schemeClr val="bg1"/>
                </a:solidFill>
                <a:latin typeface="Montserrat" pitchFamily="2" charset="0"/>
              </a:rPr>
              <a:t>Студент:</a:t>
            </a:r>
          </a:p>
          <a:p>
            <a:r>
              <a:rPr lang="ru-RU" sz="1000" dirty="0">
                <a:solidFill>
                  <a:schemeClr val="bg1"/>
                </a:solidFill>
                <a:latin typeface="Montserrat" pitchFamily="2" charset="0"/>
              </a:rPr>
              <a:t>Иванов Иван Иванович, группа УВП-411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6EA82F2-1828-4D76-B8B5-32FEA7854F8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85" y="6362677"/>
            <a:ext cx="1893079" cy="44687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C860AE4-4527-4584-AB2E-D45C93D8C00A}"/>
              </a:ext>
            </a:extLst>
          </p:cNvPr>
          <p:cNvSpPr txBox="1"/>
          <p:nvPr userDrawn="1"/>
        </p:nvSpPr>
        <p:spPr>
          <a:xfrm>
            <a:off x="3815983" y="6394311"/>
            <a:ext cx="45596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solidFill>
                  <a:schemeClr val="bg1"/>
                </a:solidFill>
                <a:latin typeface="Montserrat" pitchFamily="2" charset="0"/>
              </a:rPr>
              <a:t>Анализ математических методов и моделей, применяемых в маркетинговых исследованиях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F67CB38-EF30-6A48-AC3F-833FBF07A7D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245684" y="6327643"/>
            <a:ext cx="431278" cy="498929"/>
          </a:xfrm>
          <a:prstGeom prst="rect">
            <a:avLst/>
          </a:prstGeom>
        </p:spPr>
      </p:pic>
      <p:sp>
        <p:nvSpPr>
          <p:cNvPr id="18" name="Номер слайда 17"/>
          <p:cNvSpPr>
            <a:spLocks noGrp="1"/>
          </p:cNvSpPr>
          <p:nvPr>
            <p:ph type="sldNum" sz="quarter" idx="12"/>
          </p:nvPr>
        </p:nvSpPr>
        <p:spPr>
          <a:xfrm>
            <a:off x="10895888" y="6461447"/>
            <a:ext cx="1144871" cy="365125"/>
          </a:xfrm>
        </p:spPr>
        <p:txBody>
          <a:bodyPr/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fld id="{D37ACDA8-D590-4CFA-9D1D-B8EB6ED853D4}" type="slidenum">
              <a:rPr lang="ru-RU" smtClean="0"/>
              <a:pPr/>
              <a:t>‹#›</a:t>
            </a:fld>
            <a:r>
              <a:rPr lang="ru-RU" dirty="0"/>
              <a:t> из 19</a:t>
            </a:r>
          </a:p>
        </p:txBody>
      </p:sp>
      <p:sp>
        <p:nvSpPr>
          <p:cNvPr id="27" name="Заголовок 26"/>
          <p:cNvSpPr>
            <a:spLocks noGrp="1"/>
          </p:cNvSpPr>
          <p:nvPr>
            <p:ph type="title"/>
          </p:nvPr>
        </p:nvSpPr>
        <p:spPr>
          <a:xfrm>
            <a:off x="695325" y="549275"/>
            <a:ext cx="10801350" cy="61658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800">
                <a:solidFill>
                  <a:srgbClr val="1A567B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9" name="Текст 28"/>
          <p:cNvSpPr>
            <a:spLocks noGrp="1"/>
          </p:cNvSpPr>
          <p:nvPr>
            <p:ph type="body" sz="quarter" idx="13"/>
          </p:nvPr>
        </p:nvSpPr>
        <p:spPr>
          <a:xfrm>
            <a:off x="695325" y="1355725"/>
            <a:ext cx="10801350" cy="302577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093544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438" userDrawn="1">
          <p15:clr>
            <a:srgbClr val="FBAE40"/>
          </p15:clr>
        </p15:guide>
        <p15:guide id="4" pos="7242" userDrawn="1">
          <p15:clr>
            <a:srgbClr val="FBAE40"/>
          </p15:clr>
        </p15:guide>
        <p15:guide id="5" orient="horz" pos="346" userDrawn="1">
          <p15:clr>
            <a:srgbClr val="FBAE40"/>
          </p15:clr>
        </p15:guide>
        <p15:guide id="6" orient="horz" pos="397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95324" y="549275"/>
            <a:ext cx="10801351" cy="761365"/>
          </a:xfrm>
        </p:spPr>
        <p:txBody>
          <a:bodyPr>
            <a:normAutofit/>
          </a:bodyPr>
          <a:lstStyle>
            <a:lvl1pPr>
              <a:defRPr sz="2800">
                <a:solidFill>
                  <a:srgbClr val="1A567B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95325" y="1581784"/>
            <a:ext cx="5108187" cy="4717313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400"/>
            </a:lvl3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76209E8-A8B2-4136-A615-86B639B24DBE}"/>
              </a:ext>
            </a:extLst>
          </p:cNvPr>
          <p:cNvSpPr/>
          <p:nvPr userDrawn="1"/>
        </p:nvSpPr>
        <p:spPr>
          <a:xfrm>
            <a:off x="0" y="6311900"/>
            <a:ext cx="12191976" cy="546100"/>
          </a:xfrm>
          <a:prstGeom prst="rect">
            <a:avLst/>
          </a:prstGeom>
          <a:solidFill>
            <a:srgbClr val="0086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5" name="Объект 14">
            <a:extLst>
              <a:ext uri="{FF2B5EF4-FFF2-40B4-BE49-F238E27FC236}">
                <a16:creationId xmlns:a16="http://schemas.microsoft.com/office/drawing/2014/main" id="{F8E8FC25-8594-42B9-9F09-06FBDC4F98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2176" y="6338773"/>
            <a:ext cx="685696" cy="51922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59B4C49-3649-4A6C-A3D2-202B6CE7836B}"/>
              </a:ext>
            </a:extLst>
          </p:cNvPr>
          <p:cNvSpPr txBox="1"/>
          <p:nvPr userDrawn="1"/>
        </p:nvSpPr>
        <p:spPr>
          <a:xfrm>
            <a:off x="8255996" y="6394311"/>
            <a:ext cx="2881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solidFill>
                  <a:schemeClr val="bg1"/>
                </a:solidFill>
                <a:latin typeface="Montserrat" pitchFamily="2" charset="0"/>
              </a:rPr>
              <a:t>Студент:</a:t>
            </a:r>
          </a:p>
          <a:p>
            <a:r>
              <a:rPr lang="ru-RU" sz="1000" dirty="0">
                <a:solidFill>
                  <a:schemeClr val="bg1"/>
                </a:solidFill>
                <a:latin typeface="Montserrat" pitchFamily="2" charset="0"/>
              </a:rPr>
              <a:t>Иванов Иван Иванович, группа УВП-411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6EA82F2-1828-4D76-B8B5-32FEA7854F8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85" y="6362677"/>
            <a:ext cx="1893079" cy="44687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C860AE4-4527-4584-AB2E-D45C93D8C00A}"/>
              </a:ext>
            </a:extLst>
          </p:cNvPr>
          <p:cNvSpPr txBox="1"/>
          <p:nvPr userDrawn="1"/>
        </p:nvSpPr>
        <p:spPr>
          <a:xfrm>
            <a:off x="3815983" y="6394311"/>
            <a:ext cx="45596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solidFill>
                  <a:schemeClr val="bg1"/>
                </a:solidFill>
                <a:latin typeface="Montserrat" pitchFamily="2" charset="0"/>
              </a:rPr>
              <a:t>Анализ математических методов и моделей, применяемых в маркетинговых исследованиях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F67CB38-EF30-6A48-AC3F-833FBF07A7D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245684" y="6327643"/>
            <a:ext cx="431278" cy="498929"/>
          </a:xfrm>
          <a:prstGeom prst="rect">
            <a:avLst/>
          </a:prstGeom>
        </p:spPr>
      </p:pic>
      <p:sp>
        <p:nvSpPr>
          <p:cNvPr id="20" name="Номер слайда 17"/>
          <p:cNvSpPr>
            <a:spLocks noGrp="1"/>
          </p:cNvSpPr>
          <p:nvPr>
            <p:ph type="sldNum" sz="quarter" idx="12"/>
          </p:nvPr>
        </p:nvSpPr>
        <p:spPr>
          <a:xfrm>
            <a:off x="10895888" y="6461447"/>
            <a:ext cx="1144871" cy="365125"/>
          </a:xfrm>
        </p:spPr>
        <p:txBody>
          <a:bodyPr/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fld id="{D37ACDA8-D590-4CFA-9D1D-B8EB6ED853D4}" type="slidenum">
              <a:rPr lang="ru-RU" smtClean="0"/>
              <a:pPr/>
              <a:t>‹#›</a:t>
            </a:fld>
            <a:r>
              <a:rPr lang="ru-RU" dirty="0"/>
              <a:t> из 19</a:t>
            </a:r>
          </a:p>
        </p:txBody>
      </p:sp>
      <p:sp>
        <p:nvSpPr>
          <p:cNvPr id="21" name="Объект 2"/>
          <p:cNvSpPr>
            <a:spLocks noGrp="1"/>
          </p:cNvSpPr>
          <p:nvPr>
            <p:ph sz="half" idx="13"/>
          </p:nvPr>
        </p:nvSpPr>
        <p:spPr>
          <a:xfrm>
            <a:off x="6388488" y="1581784"/>
            <a:ext cx="5108187" cy="4730115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400"/>
            </a:lvl3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3012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724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BEF1A2F-7BEC-4110-B566-6FE71B0AA6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8011" y="0"/>
            <a:ext cx="9773989" cy="6858000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5B7210DD-6D26-4D36-AE40-FFE3C1C256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5325" y="2235200"/>
            <a:ext cx="5897880" cy="2387600"/>
          </a:xfrm>
        </p:spPr>
        <p:txBody>
          <a:bodyPr anchor="ctr">
            <a:noAutofit/>
          </a:bodyPr>
          <a:lstStyle>
            <a:lvl1pPr algn="ctr">
              <a:defRPr sz="2800" b="1">
                <a:solidFill>
                  <a:srgbClr val="1A567B"/>
                </a:solidFill>
                <a:latin typeface="+mj-lt"/>
              </a:defRPr>
            </a:lvl1pPr>
          </a:lstStyle>
          <a:p>
            <a:r>
              <a:rPr lang="ru-RU" dirty="0"/>
              <a:t>Спасибо за внимание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40C38A-A644-416F-A3C2-50002ABEE44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44" y="375375"/>
            <a:ext cx="2778749" cy="65595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FC48ED8-0626-4618-B2A3-3882BDC146C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496" y="333531"/>
            <a:ext cx="2216920" cy="70489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3831929-E9B5-1346-9974-4CB326EA3FF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004819" y="375375"/>
            <a:ext cx="3309421" cy="7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44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0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orient="horz" pos="397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56524-1C91-4FC0-B52B-D69D07B5D441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8482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ACDA8-D590-4CFA-9D1D-B8EB6ED853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2423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8" r:id="rId3"/>
    <p:sldLayoutId id="2147483659" r:id="rId4"/>
    <p:sldLayoutId id="2147483660" r:id="rId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jp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88264" y="1599258"/>
            <a:ext cx="6011828" cy="2387600"/>
          </a:xfrm>
        </p:spPr>
        <p:txBody>
          <a:bodyPr/>
          <a:lstStyle/>
          <a:p>
            <a:r>
              <a:rPr lang="ru-RU" dirty="0"/>
              <a:t>Разработка мобильного приложения для суммаризации протоколов встреч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88264" y="4983164"/>
            <a:ext cx="5897880" cy="1432876"/>
          </a:xfrm>
        </p:spPr>
        <p:txBody>
          <a:bodyPr/>
          <a:lstStyle/>
          <a:p>
            <a:r>
              <a:rPr lang="ru-RU" dirty="0"/>
              <a:t>Работу выполнил: </a:t>
            </a:r>
          </a:p>
          <a:p>
            <a:r>
              <a:rPr lang="ru-RU" dirty="0"/>
              <a:t>студент группы УВП-412</a:t>
            </a:r>
          </a:p>
          <a:p>
            <a:pPr lvl="0">
              <a:defRPr/>
            </a:pPr>
            <a:r>
              <a:rPr lang="ru-RU" dirty="0">
                <a:solidFill>
                  <a:srgbClr val="1A567B"/>
                </a:solidFill>
              </a:rPr>
              <a:t>Киво Михаил Андреевич</a:t>
            </a:r>
          </a:p>
          <a:p>
            <a:pPr lvl="0">
              <a:defRPr/>
            </a:pPr>
            <a:endParaRPr lang="ru-RU" dirty="0">
              <a:solidFill>
                <a:srgbClr val="1A567B"/>
              </a:solidFill>
            </a:endParaRPr>
          </a:p>
          <a:p>
            <a:pPr lvl="0">
              <a:defRPr/>
            </a:pPr>
            <a:r>
              <a:rPr lang="ru-RU" dirty="0"/>
              <a:t>Руководитель бакалаврской работы:</a:t>
            </a:r>
          </a:p>
          <a:p>
            <a:pPr lvl="0">
              <a:defRPr/>
            </a:pPr>
            <a:r>
              <a:rPr lang="ru-RU" dirty="0">
                <a:solidFill>
                  <a:srgbClr val="1A567B"/>
                </a:solidFill>
              </a:rPr>
              <a:t>Заманов Евгений Альбертович, старший преподаватель</a:t>
            </a:r>
          </a:p>
        </p:txBody>
      </p:sp>
    </p:spTree>
    <p:extLst>
      <p:ext uri="{BB962C8B-B14F-4D97-AF65-F5344CB8AC3E}">
        <p14:creationId xmlns:p14="http://schemas.microsoft.com/office/powerpoint/2010/main" val="3114273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ACDA8-D590-4CFA-9D1D-B8EB6ED853D4}" type="slidenum">
              <a:rPr lang="ru-RU" smtClean="0"/>
              <a:pPr/>
              <a:t>2</a:t>
            </a:fld>
            <a:r>
              <a:rPr lang="ru-RU"/>
              <a:t> из 19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339284" y="361705"/>
            <a:ext cx="10556604" cy="834048"/>
          </a:xfrm>
        </p:spPr>
        <p:txBody>
          <a:bodyPr/>
          <a:lstStyle/>
          <a:p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Актуальность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: самая распространённая фраза на встречах, которую вы слышите?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5D5AF9A-483C-904B-B282-E68B96A08359}"/>
              </a:ext>
            </a:extLst>
          </p:cNvPr>
          <p:cNvGrpSpPr/>
          <p:nvPr/>
        </p:nvGrpSpPr>
        <p:grpSpPr>
          <a:xfrm>
            <a:off x="0" y="6281690"/>
            <a:ext cx="12192000" cy="711163"/>
            <a:chOff x="0" y="6294065"/>
            <a:chExt cx="12192000" cy="71116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AE4A052-FAC4-AD47-9456-8824EE09D836}"/>
                </a:ext>
              </a:extLst>
            </p:cNvPr>
            <p:cNvGrpSpPr/>
            <p:nvPr/>
          </p:nvGrpSpPr>
          <p:grpSpPr>
            <a:xfrm>
              <a:off x="0" y="6294065"/>
              <a:ext cx="12192000" cy="711163"/>
              <a:chOff x="122664" y="6258765"/>
              <a:chExt cx="12192000" cy="711163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0F5115A5-7928-3749-8798-F538D23123EF}"/>
                  </a:ext>
                </a:extLst>
              </p:cNvPr>
              <p:cNvGrpSpPr/>
              <p:nvPr/>
            </p:nvGrpSpPr>
            <p:grpSpPr>
              <a:xfrm>
                <a:off x="122664" y="6258765"/>
                <a:ext cx="12192000" cy="599235"/>
                <a:chOff x="92868" y="6079630"/>
                <a:chExt cx="12192000" cy="599235"/>
              </a:xfrm>
            </p:grpSpPr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545079D0-13A2-0C4F-A01C-D4EEEC2CE00A}"/>
                    </a:ext>
                  </a:extLst>
                </p:cNvPr>
                <p:cNvSpPr/>
                <p:nvPr/>
              </p:nvSpPr>
              <p:spPr>
                <a:xfrm>
                  <a:off x="92868" y="6079630"/>
                  <a:ext cx="12192000" cy="597877"/>
                </a:xfrm>
                <a:prstGeom prst="rect">
                  <a:avLst/>
                </a:prstGeom>
                <a:solidFill>
                  <a:srgbClr val="0086B9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pic>
              <p:nvPicPr>
                <p:cNvPr id="15" name="Picture 14">
                  <a:extLst>
                    <a:ext uri="{FF2B5EF4-FFF2-40B4-BE49-F238E27FC236}">
                      <a16:creationId xmlns:a16="http://schemas.microsoft.com/office/drawing/2014/main" id="{A561F14F-9D73-914C-A186-41F52A77E7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868" y="6084505"/>
                  <a:ext cx="4135497" cy="594360"/>
                </a:xfrm>
                <a:prstGeom prst="rect">
                  <a:avLst/>
                </a:prstGeom>
              </p:spPr>
            </p:pic>
          </p:grp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FF16518-06E1-F748-8F35-C1DAF3DECE16}"/>
                  </a:ext>
                </a:extLst>
              </p:cNvPr>
              <p:cNvSpPr txBox="1"/>
              <p:nvPr/>
            </p:nvSpPr>
            <p:spPr>
              <a:xfrm>
                <a:off x="4258161" y="6354375"/>
                <a:ext cx="4312667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Разработка мобильного приложения для суммаризации протоколов встреч</a:t>
                </a:r>
                <a:endPara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200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C17F0EF-74E0-AB44-A112-A9736B3F34A1}"/>
                  </a:ext>
                </a:extLst>
              </p:cNvPr>
              <p:cNvSpPr txBox="1"/>
              <p:nvPr/>
            </p:nvSpPr>
            <p:spPr>
              <a:xfrm>
                <a:off x="8570828" y="6354375"/>
                <a:ext cx="278297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Студент:</a:t>
                </a:r>
                <a:b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Киво Михаил Андреевич, УВП-412</a:t>
                </a:r>
                <a:endPara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5F1968E-76E2-5C4E-800D-0FC59DBA6F7A}"/>
                </a:ext>
              </a:extLst>
            </p:cNvPr>
            <p:cNvSpPr txBox="1"/>
            <p:nvPr/>
          </p:nvSpPr>
          <p:spPr>
            <a:xfrm>
              <a:off x="11094624" y="6421040"/>
              <a:ext cx="9557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 из 14</a:t>
              </a:r>
              <a:endPara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58969AD-5343-E041-B5CD-E18DDEA5F4BC}"/>
              </a:ext>
            </a:extLst>
          </p:cNvPr>
          <p:cNvGrpSpPr/>
          <p:nvPr/>
        </p:nvGrpSpPr>
        <p:grpSpPr>
          <a:xfrm>
            <a:off x="522146" y="1505244"/>
            <a:ext cx="5914953" cy="1417320"/>
            <a:chOff x="1184030" y="1852246"/>
            <a:chExt cx="5914953" cy="1417320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29A6668A-E2FC-E041-A068-3DF2E7EC7546}"/>
                </a:ext>
              </a:extLst>
            </p:cNvPr>
            <p:cNvSpPr/>
            <p:nvPr/>
          </p:nvSpPr>
          <p:spPr>
            <a:xfrm>
              <a:off x="1184030" y="1852246"/>
              <a:ext cx="5914953" cy="1417320"/>
            </a:xfrm>
            <a:prstGeom prst="roundRect">
              <a:avLst/>
            </a:prstGeom>
            <a:solidFill>
              <a:srgbClr val="1A2A5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79B175B-2BCF-DB42-9979-6E38A14117BD}"/>
                </a:ext>
              </a:extLst>
            </p:cNvPr>
            <p:cNvSpPr txBox="1"/>
            <p:nvPr/>
          </p:nvSpPr>
          <p:spPr>
            <a:xfrm>
              <a:off x="3824759" y="1900201"/>
              <a:ext cx="13372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b="1" dirty="0">
                  <a:solidFill>
                    <a:schemeClr val="bg1"/>
                  </a:solidFill>
                </a:rPr>
                <a:t>ПРОБЛЕМА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3AAA15-70E6-534B-9BF8-28C1EF3A52AD}"/>
                </a:ext>
              </a:extLst>
            </p:cNvPr>
            <p:cNvSpPr txBox="1"/>
            <p:nvPr/>
          </p:nvSpPr>
          <p:spPr>
            <a:xfrm>
              <a:off x="1366057" y="2240272"/>
              <a:ext cx="38494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>
                  <a:solidFill>
                    <a:schemeClr val="bg1"/>
                  </a:solidFill>
                </a:rPr>
                <a:t>Люди контролируют речь при записи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346C195-47B3-1843-8267-3DEC3C6DC3B1}"/>
                </a:ext>
              </a:extLst>
            </p:cNvPr>
            <p:cNvSpPr txBox="1"/>
            <p:nvPr/>
          </p:nvSpPr>
          <p:spPr>
            <a:xfrm>
              <a:off x="1371600" y="2710933"/>
              <a:ext cx="44153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>
                  <a:solidFill>
                    <a:schemeClr val="bg1"/>
                  </a:solidFill>
                </a:rPr>
                <a:t>- 40% продуктивности мозговых штурмов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9D11DDE-1224-E64E-8B19-B5D2270DF3BA}"/>
              </a:ext>
            </a:extLst>
          </p:cNvPr>
          <p:cNvGrpSpPr/>
          <p:nvPr/>
        </p:nvGrpSpPr>
        <p:grpSpPr>
          <a:xfrm>
            <a:off x="2723007" y="3151813"/>
            <a:ext cx="6091825" cy="1417320"/>
            <a:chOff x="2356338" y="3313187"/>
            <a:chExt cx="6091825" cy="1417320"/>
          </a:xfrm>
        </p:grpSpPr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8E58AE8B-2488-4B4D-9608-163F0672EB19}"/>
                </a:ext>
              </a:extLst>
            </p:cNvPr>
            <p:cNvSpPr/>
            <p:nvPr/>
          </p:nvSpPr>
          <p:spPr>
            <a:xfrm>
              <a:off x="2356338" y="3313187"/>
              <a:ext cx="6091825" cy="1417320"/>
            </a:xfrm>
            <a:prstGeom prst="roundRect">
              <a:avLst/>
            </a:prstGeom>
            <a:solidFill>
              <a:srgbClr val="F4792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FD8526C-A4D7-5C47-AF2A-9271C784EB0A}"/>
                </a:ext>
              </a:extLst>
            </p:cNvPr>
            <p:cNvSpPr txBox="1"/>
            <p:nvPr/>
          </p:nvSpPr>
          <p:spPr>
            <a:xfrm>
              <a:off x="3943196" y="3341393"/>
              <a:ext cx="29181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b="1" dirty="0">
                  <a:solidFill>
                    <a:schemeClr val="bg1"/>
                  </a:solidFill>
                </a:rPr>
                <a:t>ПОЧЕМУ ТАК ПРОИСХОДИТ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1B2DB75-2E53-A549-B67C-0832300F37D7}"/>
                </a:ext>
              </a:extLst>
            </p:cNvPr>
            <p:cNvSpPr txBox="1"/>
            <p:nvPr/>
          </p:nvSpPr>
          <p:spPr>
            <a:xfrm>
              <a:off x="2546184" y="3658643"/>
              <a:ext cx="54645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chemeClr val="bg1"/>
                  </a:solidFill>
                </a:rPr>
                <a:t>Боятся, что неформальные комментарии будут использованы против них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F05DE38-7A36-A44B-BAEA-9A89F46A02CD}"/>
                </a:ext>
              </a:extLst>
            </p:cNvPr>
            <p:cNvSpPr txBox="1"/>
            <p:nvPr/>
          </p:nvSpPr>
          <p:spPr>
            <a:xfrm>
              <a:off x="2546184" y="4252892"/>
              <a:ext cx="57770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>
                  <a:solidFill>
                    <a:schemeClr val="bg1"/>
                  </a:solidFill>
                </a:rPr>
                <a:t>Эффект Хоторна: поведение меняется под наблюдением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9F365EB-B8C8-9446-8C50-E07301571AE9}"/>
              </a:ext>
            </a:extLst>
          </p:cNvPr>
          <p:cNvGrpSpPr/>
          <p:nvPr/>
        </p:nvGrpSpPr>
        <p:grpSpPr>
          <a:xfrm>
            <a:off x="5402249" y="4788072"/>
            <a:ext cx="6227596" cy="1417320"/>
            <a:chOff x="3831488" y="4774128"/>
            <a:chExt cx="6227596" cy="1417320"/>
          </a:xfrm>
        </p:grpSpPr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98DD8307-FCE2-0D45-85EB-1F25C2222A3E}"/>
                </a:ext>
              </a:extLst>
            </p:cNvPr>
            <p:cNvSpPr/>
            <p:nvPr/>
          </p:nvSpPr>
          <p:spPr>
            <a:xfrm>
              <a:off x="3831488" y="4774128"/>
              <a:ext cx="6091825" cy="1417320"/>
            </a:xfrm>
            <a:prstGeom prst="roundRect">
              <a:avLst/>
            </a:prstGeom>
            <a:solidFill>
              <a:srgbClr val="1A2A5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1E55EBE-00F9-9A47-AD29-97AC864C9BAD}"/>
                </a:ext>
              </a:extLst>
            </p:cNvPr>
            <p:cNvSpPr txBox="1"/>
            <p:nvPr/>
          </p:nvSpPr>
          <p:spPr>
            <a:xfrm>
              <a:off x="6096000" y="4787998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b="1" dirty="0">
                  <a:solidFill>
                    <a:schemeClr val="bg1"/>
                  </a:solidFill>
                </a:rPr>
                <a:t>РЕШЕНИЕ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97C40F7-3BAD-DE44-8F7F-10369F891A03}"/>
                </a:ext>
              </a:extLst>
            </p:cNvPr>
            <p:cNvSpPr txBox="1"/>
            <p:nvPr/>
          </p:nvSpPr>
          <p:spPr>
            <a:xfrm>
              <a:off x="4046825" y="5067266"/>
              <a:ext cx="47241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>
                  <a:solidFill>
                    <a:schemeClr val="bg1"/>
                  </a:solidFill>
                </a:rPr>
                <a:t>Аудио и транскрипция удаляются через 3 часа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2914EE6-9ED4-854A-809E-9448545A559C}"/>
                </a:ext>
              </a:extLst>
            </p:cNvPr>
            <p:cNvSpPr txBox="1"/>
            <p:nvPr/>
          </p:nvSpPr>
          <p:spPr>
            <a:xfrm>
              <a:off x="4046825" y="5463636"/>
              <a:ext cx="601225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chemeClr val="bg1"/>
                  </a:solidFill>
                </a:rPr>
                <a:t>В суммаризации только суть встречи - можно говорить свободно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34" name="Down Arrow 33">
            <a:extLst>
              <a:ext uri="{FF2B5EF4-FFF2-40B4-BE49-F238E27FC236}">
                <a16:creationId xmlns:a16="http://schemas.microsoft.com/office/drawing/2014/main" id="{B7158762-5413-E24B-AE3D-C2DCCA02775F}"/>
              </a:ext>
            </a:extLst>
          </p:cNvPr>
          <p:cNvSpPr/>
          <p:nvPr/>
        </p:nvSpPr>
        <p:spPr>
          <a:xfrm>
            <a:off x="2583359" y="2733263"/>
            <a:ext cx="584962" cy="674106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Down Arrow 34">
            <a:extLst>
              <a:ext uri="{FF2B5EF4-FFF2-40B4-BE49-F238E27FC236}">
                <a16:creationId xmlns:a16="http://schemas.microsoft.com/office/drawing/2014/main" id="{5DA47DE2-51BE-704A-88DB-41D9C947C1CB}"/>
              </a:ext>
            </a:extLst>
          </p:cNvPr>
          <p:cNvSpPr/>
          <p:nvPr/>
        </p:nvSpPr>
        <p:spPr>
          <a:xfrm>
            <a:off x="5217437" y="4405746"/>
            <a:ext cx="584962" cy="674106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955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ACDA8-D590-4CFA-9D1D-B8EB6ED853D4}" type="slidenum">
              <a:rPr lang="ru-RU" smtClean="0"/>
              <a:pPr/>
              <a:t>3</a:t>
            </a:fld>
            <a:r>
              <a:rPr lang="ru-RU"/>
              <a:t> из 19</a:t>
            </a:r>
            <a:endParaRPr lang="ru-RU" dirty="0"/>
          </a:p>
        </p:txBody>
      </p:sp>
      <p:sp>
        <p:nvSpPr>
          <p:cNvPr id="9" name="Google Shape;190;p5">
            <a:extLst>
              <a:ext uri="{FF2B5EF4-FFF2-40B4-BE49-F238E27FC236}">
                <a16:creationId xmlns:a16="http://schemas.microsoft.com/office/drawing/2014/main" id="{AD9521E5-D417-184B-A523-EA86056392AC}"/>
              </a:ext>
            </a:extLst>
          </p:cNvPr>
          <p:cNvSpPr txBox="1">
            <a:spLocks/>
          </p:cNvSpPr>
          <p:nvPr/>
        </p:nvSpPr>
        <p:spPr>
          <a:xfrm>
            <a:off x="456839" y="1318577"/>
            <a:ext cx="8170785" cy="4592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ru-RU" sz="20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Цель</a:t>
            </a:r>
            <a:r>
              <a:rPr lang="ru-RU" sz="20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Разработать мобильное приложение для суммаризации протоколов встреч</a:t>
            </a:r>
          </a:p>
          <a:p>
            <a:pPr marL="11430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ru-RU" sz="20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Задачи</a:t>
            </a:r>
            <a:r>
              <a:rPr lang="ru-RU" sz="20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Проанализировать предметную область и существующие решения</a:t>
            </a: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Спроектировать архитектуру системы</a:t>
            </a: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Подобрать промпт для фильтрации неформального контента</a:t>
            </a: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Выбрать модель для транскрибации аудио</a:t>
            </a: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Реализовать серверную часть</a:t>
            </a: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Реализовать мобильный клиент с примером на базе A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ndroid</a:t>
            </a:r>
            <a:endParaRPr lang="ru-RU" sz="2000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2B6D7FE-777A-334F-A46C-DDCB58E54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8179" y="1646238"/>
            <a:ext cx="2654300" cy="26543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5D5AF9A-483C-904B-B282-E68B96A08359}"/>
              </a:ext>
            </a:extLst>
          </p:cNvPr>
          <p:cNvGrpSpPr/>
          <p:nvPr/>
        </p:nvGrpSpPr>
        <p:grpSpPr>
          <a:xfrm>
            <a:off x="0" y="6281690"/>
            <a:ext cx="12192000" cy="711163"/>
            <a:chOff x="0" y="6294065"/>
            <a:chExt cx="12192000" cy="71116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AE4A052-FAC4-AD47-9456-8824EE09D836}"/>
                </a:ext>
              </a:extLst>
            </p:cNvPr>
            <p:cNvGrpSpPr/>
            <p:nvPr/>
          </p:nvGrpSpPr>
          <p:grpSpPr>
            <a:xfrm>
              <a:off x="0" y="6294065"/>
              <a:ext cx="12192000" cy="711163"/>
              <a:chOff x="122664" y="6258765"/>
              <a:chExt cx="12192000" cy="711163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0F5115A5-7928-3749-8798-F538D23123EF}"/>
                  </a:ext>
                </a:extLst>
              </p:cNvPr>
              <p:cNvGrpSpPr/>
              <p:nvPr/>
            </p:nvGrpSpPr>
            <p:grpSpPr>
              <a:xfrm>
                <a:off x="122664" y="6258765"/>
                <a:ext cx="12192000" cy="599235"/>
                <a:chOff x="92868" y="6079630"/>
                <a:chExt cx="12192000" cy="599235"/>
              </a:xfrm>
            </p:grpSpPr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545079D0-13A2-0C4F-A01C-D4EEEC2CE00A}"/>
                    </a:ext>
                  </a:extLst>
                </p:cNvPr>
                <p:cNvSpPr/>
                <p:nvPr/>
              </p:nvSpPr>
              <p:spPr>
                <a:xfrm>
                  <a:off x="92868" y="6079630"/>
                  <a:ext cx="12192000" cy="597877"/>
                </a:xfrm>
                <a:prstGeom prst="rect">
                  <a:avLst/>
                </a:prstGeom>
                <a:solidFill>
                  <a:srgbClr val="0086B9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pic>
              <p:nvPicPr>
                <p:cNvPr id="15" name="Picture 14">
                  <a:extLst>
                    <a:ext uri="{FF2B5EF4-FFF2-40B4-BE49-F238E27FC236}">
                      <a16:creationId xmlns:a16="http://schemas.microsoft.com/office/drawing/2014/main" id="{A561F14F-9D73-914C-A186-41F52A77E7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868" y="6084505"/>
                  <a:ext cx="4135497" cy="594360"/>
                </a:xfrm>
                <a:prstGeom prst="rect">
                  <a:avLst/>
                </a:prstGeom>
              </p:spPr>
            </p:pic>
          </p:grp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FF16518-06E1-F748-8F35-C1DAF3DECE16}"/>
                  </a:ext>
                </a:extLst>
              </p:cNvPr>
              <p:cNvSpPr txBox="1"/>
              <p:nvPr/>
            </p:nvSpPr>
            <p:spPr>
              <a:xfrm>
                <a:off x="4258161" y="6354375"/>
                <a:ext cx="4312667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Разработка мобильного приложения для суммаризации протоколов встреч</a:t>
                </a:r>
                <a:endPara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200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C17F0EF-74E0-AB44-A112-A9736B3F34A1}"/>
                  </a:ext>
                </a:extLst>
              </p:cNvPr>
              <p:cNvSpPr txBox="1"/>
              <p:nvPr/>
            </p:nvSpPr>
            <p:spPr>
              <a:xfrm>
                <a:off x="8570828" y="6354375"/>
                <a:ext cx="278297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Студент:</a:t>
                </a:r>
                <a:b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Киво Михаил Андреевич, УВП-412</a:t>
                </a:r>
                <a:endPara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5F1968E-76E2-5C4E-800D-0FC59DBA6F7A}"/>
                </a:ext>
              </a:extLst>
            </p:cNvPr>
            <p:cNvSpPr txBox="1"/>
            <p:nvPr/>
          </p:nvSpPr>
          <p:spPr>
            <a:xfrm>
              <a:off x="11094624" y="6421040"/>
              <a:ext cx="9557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 из 14</a:t>
              </a:r>
              <a:endPara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6" name="Google Shape;165;p2">
            <a:extLst>
              <a:ext uri="{FF2B5EF4-FFF2-40B4-BE49-F238E27FC236}">
                <a16:creationId xmlns:a16="http://schemas.microsoft.com/office/drawing/2014/main" id="{622D352D-E75B-0440-B3F1-1A04A0E06756}"/>
              </a:ext>
            </a:extLst>
          </p:cNvPr>
          <p:cNvSpPr txBox="1">
            <a:spLocks/>
          </p:cNvSpPr>
          <p:nvPr/>
        </p:nvSpPr>
        <p:spPr>
          <a:xfrm>
            <a:off x="549604" y="520247"/>
            <a:ext cx="4304784" cy="40774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kern="1200">
                <a:solidFill>
                  <a:srgbClr val="1A567B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spcBef>
                <a:spcPts val="0"/>
              </a:spcBef>
              <a:buClr>
                <a:srgbClr val="2F5496"/>
              </a:buClr>
              <a:buSzPts val="2400"/>
              <a:buFont typeface="Arial Black"/>
              <a:buNone/>
            </a:pPr>
            <a:r>
              <a:rPr lang="ru-RU" sz="2400" dirty="0">
                <a:solidFill>
                  <a:srgbClr val="2F5496"/>
                </a:solidFill>
                <a:latin typeface="Arial Black"/>
                <a:ea typeface="Arial Black"/>
                <a:cs typeface="Arial Black"/>
                <a:sym typeface="Arial Black"/>
              </a:rPr>
              <a:t>Цели и задачи</a:t>
            </a:r>
          </a:p>
        </p:txBody>
      </p:sp>
    </p:spTree>
    <p:extLst>
      <p:ext uri="{BB962C8B-B14F-4D97-AF65-F5344CB8AC3E}">
        <p14:creationId xmlns:p14="http://schemas.microsoft.com/office/powerpoint/2010/main" val="2531385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>
          <a:extLst>
            <a:ext uri="{FF2B5EF4-FFF2-40B4-BE49-F238E27FC236}">
              <a16:creationId xmlns:a16="http://schemas.microsoft.com/office/drawing/2014/main" id="{8D212CA5-B243-9081-3598-06D31CA2F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">
            <a:extLst>
              <a:ext uri="{FF2B5EF4-FFF2-40B4-BE49-F238E27FC236}">
                <a16:creationId xmlns:a16="http://schemas.microsoft.com/office/drawing/2014/main" id="{5DCD9BD2-22FD-D507-C879-7859DFE1E4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0323" y="213097"/>
            <a:ext cx="52578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Arial Black"/>
              <a:buNone/>
            </a:pPr>
            <a:r>
              <a:rPr lang="ru-RU" sz="2400" dirty="0">
                <a:solidFill>
                  <a:srgbClr val="2F5496"/>
                </a:solidFill>
                <a:latin typeface="Arial Black"/>
                <a:ea typeface="Arial Black"/>
                <a:cs typeface="Arial Black"/>
                <a:sym typeface="Arial Black"/>
              </a:rPr>
              <a:t>План разработки проекта</a:t>
            </a:r>
            <a:endParaRPr sz="2400" dirty="0">
              <a:solidFill>
                <a:srgbClr val="2F5496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56E9ED1-C7AD-7847-9BD1-BEE755EE9815}"/>
              </a:ext>
            </a:extLst>
          </p:cNvPr>
          <p:cNvGrpSpPr/>
          <p:nvPr/>
        </p:nvGrpSpPr>
        <p:grpSpPr>
          <a:xfrm>
            <a:off x="0" y="6294065"/>
            <a:ext cx="12192000" cy="711163"/>
            <a:chOff x="0" y="6294065"/>
            <a:chExt cx="12192000" cy="71116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1E7C522-3B58-7145-93D5-35B70FDC4745}"/>
                </a:ext>
              </a:extLst>
            </p:cNvPr>
            <p:cNvGrpSpPr/>
            <p:nvPr/>
          </p:nvGrpSpPr>
          <p:grpSpPr>
            <a:xfrm>
              <a:off x="0" y="6294065"/>
              <a:ext cx="12192000" cy="711163"/>
              <a:chOff x="122664" y="6258765"/>
              <a:chExt cx="12192000" cy="711163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3AD58243-C201-5948-9E66-18106A597E62}"/>
                  </a:ext>
                </a:extLst>
              </p:cNvPr>
              <p:cNvGrpSpPr/>
              <p:nvPr/>
            </p:nvGrpSpPr>
            <p:grpSpPr>
              <a:xfrm>
                <a:off x="122664" y="6258765"/>
                <a:ext cx="12192000" cy="599235"/>
                <a:chOff x="92868" y="6079630"/>
                <a:chExt cx="12192000" cy="599235"/>
              </a:xfrm>
            </p:grpSpPr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3793E712-5C23-5C4F-B35B-1EE15450CBFD}"/>
                    </a:ext>
                  </a:extLst>
                </p:cNvPr>
                <p:cNvSpPr/>
                <p:nvPr/>
              </p:nvSpPr>
              <p:spPr>
                <a:xfrm>
                  <a:off x="92868" y="6079630"/>
                  <a:ext cx="12192000" cy="597877"/>
                </a:xfrm>
                <a:prstGeom prst="rect">
                  <a:avLst/>
                </a:prstGeom>
                <a:solidFill>
                  <a:srgbClr val="0086B9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DDD1CA56-D94D-F847-A693-116417F4F4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868" y="6084505"/>
                  <a:ext cx="4135497" cy="594360"/>
                </a:xfrm>
                <a:prstGeom prst="rect">
                  <a:avLst/>
                </a:prstGeom>
              </p:spPr>
            </p:pic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372DA19-9FD4-6D41-B13D-A6930CFE13C3}"/>
                  </a:ext>
                </a:extLst>
              </p:cNvPr>
              <p:cNvSpPr txBox="1"/>
              <p:nvPr/>
            </p:nvSpPr>
            <p:spPr>
              <a:xfrm>
                <a:off x="4258161" y="6354375"/>
                <a:ext cx="4312667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Разработка мобильного приложения для суммаризации протоколов встреч</a:t>
                </a:r>
                <a:endPara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200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6C42BC8-E23B-C04C-8C81-051C59E64336}"/>
                  </a:ext>
                </a:extLst>
              </p:cNvPr>
              <p:cNvSpPr txBox="1"/>
              <p:nvPr/>
            </p:nvSpPr>
            <p:spPr>
              <a:xfrm>
                <a:off x="8570828" y="6354375"/>
                <a:ext cx="278297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Студент:</a:t>
                </a:r>
                <a:b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Киво Михаил Андреевич, УВП-412</a:t>
                </a:r>
                <a:endPara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159EDE9-3D8C-1B47-9552-F41D5C1EC6D1}"/>
                </a:ext>
              </a:extLst>
            </p:cNvPr>
            <p:cNvSpPr txBox="1"/>
            <p:nvPr/>
          </p:nvSpPr>
          <p:spPr>
            <a:xfrm>
              <a:off x="11094624" y="6421040"/>
              <a:ext cx="9557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 из 14</a:t>
              </a:r>
              <a:endPara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F327FCCE-590F-E74D-94CD-1361F6D472AA}"/>
              </a:ext>
            </a:extLst>
          </p:cNvPr>
          <p:cNvSpPr/>
          <p:nvPr/>
        </p:nvSpPr>
        <p:spPr>
          <a:xfrm>
            <a:off x="9627085" y="5606869"/>
            <a:ext cx="602269" cy="60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2661AC3-EF59-0840-A5C5-593EDF5CBB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8141" y="135974"/>
            <a:ext cx="7272344" cy="6044805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C8A67851-4209-5A4B-A281-0867EB3E86FD}"/>
              </a:ext>
            </a:extLst>
          </p:cNvPr>
          <p:cNvSpPr/>
          <p:nvPr/>
        </p:nvSpPr>
        <p:spPr>
          <a:xfrm>
            <a:off x="9083040" y="5205984"/>
            <a:ext cx="1353312" cy="101048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16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>
          <a:extLst>
            <a:ext uri="{FF2B5EF4-FFF2-40B4-BE49-F238E27FC236}">
              <a16:creationId xmlns:a16="http://schemas.microsoft.com/office/drawing/2014/main" id="{8D212CA5-B243-9081-3598-06D31CA2F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">
            <a:extLst>
              <a:ext uri="{FF2B5EF4-FFF2-40B4-BE49-F238E27FC236}">
                <a16:creationId xmlns:a16="http://schemas.microsoft.com/office/drawing/2014/main" id="{5DCD9BD2-22FD-D507-C879-7859DFE1E4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1708" y="269373"/>
            <a:ext cx="473026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Arial Black"/>
              <a:buNone/>
            </a:pPr>
            <a:r>
              <a:rPr lang="ru-RU" sz="2400" dirty="0">
                <a:solidFill>
                  <a:srgbClr val="2F5496"/>
                </a:solidFill>
                <a:latin typeface="Arial Black"/>
                <a:ea typeface="Arial Black"/>
                <a:cs typeface="Arial Black"/>
                <a:sym typeface="Arial Black"/>
              </a:rPr>
              <a:t>Этап 1. Требования</a:t>
            </a:r>
            <a:endParaRPr sz="2400" dirty="0">
              <a:solidFill>
                <a:srgbClr val="2F5496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AE07FEE-0B38-7D41-AEEE-F6F6E9A5A3A3}"/>
              </a:ext>
            </a:extLst>
          </p:cNvPr>
          <p:cNvGrpSpPr/>
          <p:nvPr/>
        </p:nvGrpSpPr>
        <p:grpSpPr>
          <a:xfrm>
            <a:off x="0" y="6294065"/>
            <a:ext cx="12192000" cy="711163"/>
            <a:chOff x="0" y="6294065"/>
            <a:chExt cx="12192000" cy="71116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CA69E16-08E4-0143-AAC3-299114F77625}"/>
                </a:ext>
              </a:extLst>
            </p:cNvPr>
            <p:cNvGrpSpPr/>
            <p:nvPr/>
          </p:nvGrpSpPr>
          <p:grpSpPr>
            <a:xfrm>
              <a:off x="0" y="6294065"/>
              <a:ext cx="12192000" cy="711163"/>
              <a:chOff x="122664" y="6258765"/>
              <a:chExt cx="12192000" cy="711163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F84FE4B6-1063-4E44-B54A-BCD12AE7C50D}"/>
                  </a:ext>
                </a:extLst>
              </p:cNvPr>
              <p:cNvGrpSpPr/>
              <p:nvPr/>
            </p:nvGrpSpPr>
            <p:grpSpPr>
              <a:xfrm>
                <a:off x="122664" y="6258765"/>
                <a:ext cx="12192000" cy="599235"/>
                <a:chOff x="92868" y="6079630"/>
                <a:chExt cx="12192000" cy="599235"/>
              </a:xfrm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82DAAD90-3C97-5B4C-8E99-A1DCE90542CA}"/>
                    </a:ext>
                  </a:extLst>
                </p:cNvPr>
                <p:cNvSpPr/>
                <p:nvPr/>
              </p:nvSpPr>
              <p:spPr>
                <a:xfrm>
                  <a:off x="92868" y="6079630"/>
                  <a:ext cx="12192000" cy="597877"/>
                </a:xfrm>
                <a:prstGeom prst="rect">
                  <a:avLst/>
                </a:prstGeom>
                <a:solidFill>
                  <a:srgbClr val="0086B9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pic>
              <p:nvPicPr>
                <p:cNvPr id="12" name="Picture 11">
                  <a:extLst>
                    <a:ext uri="{FF2B5EF4-FFF2-40B4-BE49-F238E27FC236}">
                      <a16:creationId xmlns:a16="http://schemas.microsoft.com/office/drawing/2014/main" id="{36E7DDAB-7CE9-2D4E-995B-E9A616936A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868" y="6084505"/>
                  <a:ext cx="4135497" cy="594360"/>
                </a:xfrm>
                <a:prstGeom prst="rect">
                  <a:avLst/>
                </a:prstGeom>
              </p:spPr>
            </p:pic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EC4088-4A73-6E47-B6D0-053261E017A7}"/>
                  </a:ext>
                </a:extLst>
              </p:cNvPr>
              <p:cNvSpPr txBox="1"/>
              <p:nvPr/>
            </p:nvSpPr>
            <p:spPr>
              <a:xfrm>
                <a:off x="4258161" y="6354375"/>
                <a:ext cx="4312667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Разработка мобильного приложения для суммаризации протоколов встреч</a:t>
                </a:r>
                <a:endPara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200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E00EA8E-0F38-5543-9292-B04911A1BC19}"/>
                  </a:ext>
                </a:extLst>
              </p:cNvPr>
              <p:cNvSpPr txBox="1"/>
              <p:nvPr/>
            </p:nvSpPr>
            <p:spPr>
              <a:xfrm>
                <a:off x="8570828" y="6354375"/>
                <a:ext cx="278297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Студент:</a:t>
                </a:r>
                <a:b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Киво Михаил Андреевич, УВП-412</a:t>
                </a:r>
                <a:endPara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310EF1D-D57E-C742-B5B1-8A7184C9A9D6}"/>
                </a:ext>
              </a:extLst>
            </p:cNvPr>
            <p:cNvSpPr txBox="1"/>
            <p:nvPr/>
          </p:nvSpPr>
          <p:spPr>
            <a:xfrm>
              <a:off x="11094624" y="6421040"/>
              <a:ext cx="9557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 из 14</a:t>
              </a:r>
              <a:endPara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564AD47A-77F8-0141-BCA5-A8691BE4A445}"/>
              </a:ext>
            </a:extLst>
          </p:cNvPr>
          <p:cNvSpPr/>
          <p:nvPr/>
        </p:nvSpPr>
        <p:spPr>
          <a:xfrm>
            <a:off x="911582" y="2902452"/>
            <a:ext cx="1036883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400" b="1" dirty="0">
                <a:solidFill>
                  <a:srgbClr val="F47920"/>
                </a:solidFill>
              </a:rPr>
              <a:t>Фильтрация неформального контента</a:t>
            </a:r>
            <a:endParaRPr lang="en-US" sz="4400" b="1" dirty="0">
              <a:solidFill>
                <a:srgbClr val="F47920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6681E23-6C64-7F44-A338-D64BD1E2BD90}"/>
              </a:ext>
            </a:extLst>
          </p:cNvPr>
          <p:cNvSpPr/>
          <p:nvPr/>
        </p:nvSpPr>
        <p:spPr>
          <a:xfrm>
            <a:off x="2920680" y="2282659"/>
            <a:ext cx="92713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F47920"/>
                </a:solidFill>
              </a:rPr>
              <a:t>Возможность общения и получения ответов по встрече</a:t>
            </a:r>
            <a:endParaRPr lang="en-US" sz="2800" b="1" dirty="0">
              <a:solidFill>
                <a:srgbClr val="F47920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DFA55AC-40C6-8240-9BD4-BF0FBBE4E752}"/>
              </a:ext>
            </a:extLst>
          </p:cNvPr>
          <p:cNvSpPr/>
          <p:nvPr/>
        </p:nvSpPr>
        <p:spPr>
          <a:xfrm>
            <a:off x="6190251" y="3729862"/>
            <a:ext cx="572726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F47920"/>
                </a:solidFill>
              </a:rPr>
              <a:t>Быстрая суммаризация</a:t>
            </a:r>
            <a:endParaRPr lang="en-US" sz="3200" b="1" dirty="0">
              <a:solidFill>
                <a:srgbClr val="F47920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17FD737-DAAB-CC47-B519-63AE8B0E2DEA}"/>
              </a:ext>
            </a:extLst>
          </p:cNvPr>
          <p:cNvSpPr/>
          <p:nvPr/>
        </p:nvSpPr>
        <p:spPr>
          <a:xfrm>
            <a:off x="-1" y="3760639"/>
            <a:ext cx="6096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000" b="1" dirty="0">
                <a:solidFill>
                  <a:srgbClr val="F47920"/>
                </a:solidFill>
              </a:rPr>
              <a:t>Работа в оффлайн режиме</a:t>
            </a:r>
            <a:endParaRPr lang="en-US" sz="3000" b="1" dirty="0">
              <a:solidFill>
                <a:srgbClr val="F47920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25C6D79-8CC2-FB4F-A12B-B311E9E4AEA0}"/>
              </a:ext>
            </a:extLst>
          </p:cNvPr>
          <p:cNvSpPr/>
          <p:nvPr/>
        </p:nvSpPr>
        <p:spPr>
          <a:xfrm>
            <a:off x="7363366" y="1638437"/>
            <a:ext cx="358493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1A2A5E">
                    <a:alpha val="72000"/>
                  </a:srgbClr>
                </a:solidFill>
              </a:rPr>
              <a:t>Надежность данных</a:t>
            </a:r>
            <a:endParaRPr lang="en-US" sz="2400" b="1" dirty="0">
              <a:solidFill>
                <a:srgbClr val="1A2A5E">
                  <a:alpha val="72000"/>
                </a:srgbClr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8DFB580-75DE-A641-BF20-90D44EB3E323}"/>
              </a:ext>
            </a:extLst>
          </p:cNvPr>
          <p:cNvSpPr/>
          <p:nvPr/>
        </p:nvSpPr>
        <p:spPr>
          <a:xfrm>
            <a:off x="357525" y="1812340"/>
            <a:ext cx="28244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1A2A5E">
                    <a:alpha val="72000"/>
                  </a:srgbClr>
                </a:solidFill>
              </a:rPr>
              <a:t>Масштабируемость</a:t>
            </a:r>
            <a:endParaRPr lang="en-US" sz="2400" b="1" dirty="0">
              <a:solidFill>
                <a:srgbClr val="1A2A5E">
                  <a:alpha val="72000"/>
                </a:srgbClr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36982E1-CBB7-064E-B495-0A76F4BBD7B5}"/>
              </a:ext>
            </a:extLst>
          </p:cNvPr>
          <p:cNvSpPr/>
          <p:nvPr/>
        </p:nvSpPr>
        <p:spPr>
          <a:xfrm>
            <a:off x="1504689" y="4386463"/>
            <a:ext cx="40621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1A2A5E">
                    <a:alpha val="72000"/>
                  </a:srgbClr>
                </a:solidFill>
              </a:rPr>
              <a:t>Простота использования</a:t>
            </a:r>
            <a:endParaRPr lang="en-US" sz="2400" b="1" dirty="0">
              <a:solidFill>
                <a:srgbClr val="1A2A5E">
                  <a:alpha val="72000"/>
                </a:srgb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79BE443-6F48-7645-83B5-06EF42827BA1}"/>
              </a:ext>
            </a:extLst>
          </p:cNvPr>
          <p:cNvSpPr/>
          <p:nvPr/>
        </p:nvSpPr>
        <p:spPr>
          <a:xfrm>
            <a:off x="3295656" y="4905646"/>
            <a:ext cx="70585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1A2A5E">
                    <a:alpha val="72000"/>
                  </a:srgbClr>
                </a:solidFill>
              </a:rPr>
              <a:t>Экспорт</a:t>
            </a:r>
            <a:r>
              <a:rPr lang="ru-RU" sz="2400" b="1" dirty="0">
                <a:solidFill>
                  <a:srgbClr val="1A2A5E"/>
                </a:solidFill>
              </a:rPr>
              <a:t> </a:t>
            </a:r>
            <a:r>
              <a:rPr lang="ru-RU" sz="2400" b="1" dirty="0">
                <a:solidFill>
                  <a:srgbClr val="1A2A5E">
                    <a:alpha val="72000"/>
                  </a:srgbClr>
                </a:solidFill>
              </a:rPr>
              <a:t>итоговой суммаризации в текстовый файл</a:t>
            </a:r>
            <a:endParaRPr lang="en-US" sz="2400" b="1" dirty="0">
              <a:solidFill>
                <a:srgbClr val="1A2A5E">
                  <a:alpha val="72000"/>
                </a:srgbClr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AB5A7F-7B28-F248-A8CE-0FB3763DF208}"/>
              </a:ext>
            </a:extLst>
          </p:cNvPr>
          <p:cNvSpPr/>
          <p:nvPr/>
        </p:nvSpPr>
        <p:spPr>
          <a:xfrm>
            <a:off x="5416826" y="4324816"/>
            <a:ext cx="60626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F47920"/>
                </a:solidFill>
              </a:rPr>
              <a:t>Автосоздание 4 чатов после встречи</a:t>
            </a:r>
            <a:endParaRPr lang="en-US" sz="2400" b="1" dirty="0">
              <a:solidFill>
                <a:srgbClr val="F4792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E8A5EB-B1B7-564C-81EC-9DD57EBD8E88}"/>
              </a:ext>
            </a:extLst>
          </p:cNvPr>
          <p:cNvSpPr/>
          <p:nvPr/>
        </p:nvSpPr>
        <p:spPr>
          <a:xfrm>
            <a:off x="1504689" y="1283894"/>
            <a:ext cx="60626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1A2A5E">
                    <a:alpha val="72000"/>
                  </a:srgbClr>
                </a:solidFill>
              </a:rPr>
              <a:t>Поддержка загрузки аудиофайлов</a:t>
            </a:r>
            <a:endParaRPr lang="en-US" sz="2400" b="1" dirty="0">
              <a:solidFill>
                <a:srgbClr val="1A2A5E">
                  <a:alpha val="72000"/>
                </a:srgb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3EFA5CF-0D2E-1D47-92CD-9221EAF030D6}"/>
              </a:ext>
            </a:extLst>
          </p:cNvPr>
          <p:cNvSpPr/>
          <p:nvPr/>
        </p:nvSpPr>
        <p:spPr>
          <a:xfrm>
            <a:off x="797621" y="5402938"/>
            <a:ext cx="70585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F47920"/>
                </a:solidFill>
              </a:rPr>
              <a:t>Высокое качество транскрибации русской речи</a:t>
            </a:r>
            <a:endParaRPr lang="en-US" sz="2400" b="1" dirty="0">
              <a:solidFill>
                <a:srgbClr val="F47920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123852-4A88-4642-9749-672568218AF8}"/>
              </a:ext>
            </a:extLst>
          </p:cNvPr>
          <p:cNvSpPr/>
          <p:nvPr/>
        </p:nvSpPr>
        <p:spPr>
          <a:xfrm>
            <a:off x="6464452" y="908222"/>
            <a:ext cx="60626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1A2A5E">
                    <a:alpha val="72000"/>
                  </a:srgbClr>
                </a:solidFill>
              </a:rPr>
              <a:t>Автоудаление временных данных</a:t>
            </a:r>
            <a:endParaRPr lang="en-US" sz="2400" b="1" dirty="0">
              <a:solidFill>
                <a:srgbClr val="1A2A5E">
                  <a:alpha val="72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615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89;p5">
            <a:extLst>
              <a:ext uri="{FF2B5EF4-FFF2-40B4-BE49-F238E27FC236}">
                <a16:creationId xmlns:a16="http://schemas.microsoft.com/office/drawing/2014/main" id="{43252B5C-CA15-47C5-21B7-DA78B09846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7800" y="281564"/>
            <a:ext cx="10017011" cy="682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spcBef>
                <a:spcPts val="0"/>
              </a:spcBef>
              <a:buClr>
                <a:srgbClr val="2F5496"/>
              </a:buClr>
              <a:buSzPts val="2400"/>
            </a:pPr>
            <a:r>
              <a:rPr lang="ru-RU" sz="2400" dirty="0">
                <a:solidFill>
                  <a:srgbClr val="2F5496"/>
                </a:solidFill>
                <a:latin typeface="Arial Black"/>
                <a:ea typeface="Arial Black"/>
                <a:cs typeface="Arial Black"/>
                <a:sym typeface="Arial Black"/>
              </a:rPr>
              <a:t>Этап 2. Компонентная диаграмма</a:t>
            </a:r>
            <a:endParaRPr sz="2400" dirty="0">
              <a:solidFill>
                <a:srgbClr val="2F5496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0E788CD-627D-0C40-ABC5-06BBECA27A80}"/>
              </a:ext>
            </a:extLst>
          </p:cNvPr>
          <p:cNvGrpSpPr/>
          <p:nvPr/>
        </p:nvGrpSpPr>
        <p:grpSpPr>
          <a:xfrm>
            <a:off x="0" y="6294065"/>
            <a:ext cx="12192000" cy="711163"/>
            <a:chOff x="0" y="6294065"/>
            <a:chExt cx="12192000" cy="711163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1AF5549-888D-9444-BFF8-9502B037808B}"/>
                </a:ext>
              </a:extLst>
            </p:cNvPr>
            <p:cNvGrpSpPr/>
            <p:nvPr/>
          </p:nvGrpSpPr>
          <p:grpSpPr>
            <a:xfrm>
              <a:off x="0" y="6294065"/>
              <a:ext cx="12192000" cy="711163"/>
              <a:chOff x="122664" y="6258765"/>
              <a:chExt cx="12192000" cy="711163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519A0FBD-A92F-704D-A680-02850959018A}"/>
                  </a:ext>
                </a:extLst>
              </p:cNvPr>
              <p:cNvGrpSpPr/>
              <p:nvPr/>
            </p:nvGrpSpPr>
            <p:grpSpPr>
              <a:xfrm>
                <a:off x="122664" y="6258765"/>
                <a:ext cx="12192000" cy="599235"/>
                <a:chOff x="92868" y="6079630"/>
                <a:chExt cx="12192000" cy="599235"/>
              </a:xfrm>
            </p:grpSpPr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CF1BFF5B-5CD8-CC47-9CDF-5186C70DE9DF}"/>
                    </a:ext>
                  </a:extLst>
                </p:cNvPr>
                <p:cNvSpPr/>
                <p:nvPr/>
              </p:nvSpPr>
              <p:spPr>
                <a:xfrm>
                  <a:off x="92868" y="6079630"/>
                  <a:ext cx="12192000" cy="597877"/>
                </a:xfrm>
                <a:prstGeom prst="rect">
                  <a:avLst/>
                </a:prstGeom>
                <a:solidFill>
                  <a:srgbClr val="0086B9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pic>
              <p:nvPicPr>
                <p:cNvPr id="15" name="Picture 14">
                  <a:extLst>
                    <a:ext uri="{FF2B5EF4-FFF2-40B4-BE49-F238E27FC236}">
                      <a16:creationId xmlns:a16="http://schemas.microsoft.com/office/drawing/2014/main" id="{93732B13-F306-AD43-A20C-D1E27F7825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868" y="6084505"/>
                  <a:ext cx="4135497" cy="594360"/>
                </a:xfrm>
                <a:prstGeom prst="rect">
                  <a:avLst/>
                </a:prstGeom>
              </p:spPr>
            </p:pic>
          </p:grp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A668BE5-3F64-144A-8543-78E3C0520096}"/>
                  </a:ext>
                </a:extLst>
              </p:cNvPr>
              <p:cNvSpPr txBox="1"/>
              <p:nvPr/>
            </p:nvSpPr>
            <p:spPr>
              <a:xfrm>
                <a:off x="4258161" y="6354375"/>
                <a:ext cx="4312667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Разработка мобильного приложения для суммаризации протоколов встреч</a:t>
                </a:r>
                <a:endPara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200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EDD7D9A-2DBC-8D48-94B1-F1D5A43BCB69}"/>
                  </a:ext>
                </a:extLst>
              </p:cNvPr>
              <p:cNvSpPr txBox="1"/>
              <p:nvPr/>
            </p:nvSpPr>
            <p:spPr>
              <a:xfrm>
                <a:off x="8570828" y="6354375"/>
                <a:ext cx="278297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Студент:</a:t>
                </a:r>
                <a:b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Киво Михаил Андреевич, УВП-412</a:t>
                </a:r>
                <a:endPara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B00AC94-3A9A-5C4B-9AE9-3502D2CDE6A1}"/>
                </a:ext>
              </a:extLst>
            </p:cNvPr>
            <p:cNvSpPr txBox="1"/>
            <p:nvPr/>
          </p:nvSpPr>
          <p:spPr>
            <a:xfrm>
              <a:off x="11094624" y="6421040"/>
              <a:ext cx="9557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 из 14</a:t>
              </a:r>
              <a:endPara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52B49A2F-4F58-C94A-8B38-3B0074ADA3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0143" y="820717"/>
            <a:ext cx="8731714" cy="5360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452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9276A98-06C1-C740-B35C-A48E50F42989}"/>
              </a:ext>
            </a:extLst>
          </p:cNvPr>
          <p:cNvSpPr/>
          <p:nvPr/>
        </p:nvSpPr>
        <p:spPr>
          <a:xfrm>
            <a:off x="6424733" y="991152"/>
            <a:ext cx="5467969" cy="475391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ru-RU" sz="2000" b="1" dirty="0">
                <a:solidFill>
                  <a:srgbClr val="1A56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Технологии разработки</a:t>
            </a:r>
            <a:endParaRPr lang="en-US" sz="2000" b="1" dirty="0">
              <a:solidFill>
                <a:srgbClr val="1A567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9" name="Google Shape;189;p5"/>
          <p:cNvSpPr txBox="1">
            <a:spLocks noGrp="1"/>
          </p:cNvSpPr>
          <p:nvPr>
            <p:ph type="title"/>
          </p:nvPr>
        </p:nvSpPr>
        <p:spPr>
          <a:xfrm>
            <a:off x="322746" y="149144"/>
            <a:ext cx="7462717" cy="749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Arial Black"/>
              <a:buNone/>
            </a:pP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Э</a:t>
            </a:r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тап 3.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Выбор технологий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и</a:t>
            </a:r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 моделей ИИ</a:t>
            </a:r>
            <a:endParaRPr sz="2400" dirty="0">
              <a:solidFill>
                <a:srgbClr val="2F5496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" name="AutoShape 6" descr="Picture background">
            <a:extLst>
              <a:ext uri="{FF2B5EF4-FFF2-40B4-BE49-F238E27FC236}">
                <a16:creationId xmlns:a16="http://schemas.microsoft.com/office/drawing/2014/main" id="{09A66EBA-64E1-BB5E-13EC-992932C091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82869" y="337721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34" name="Picture 10" descr="Picture background">
            <a:extLst>
              <a:ext uri="{FF2B5EF4-FFF2-40B4-BE49-F238E27FC236}">
                <a16:creationId xmlns:a16="http://schemas.microsoft.com/office/drawing/2014/main" id="{65CB1411-ED70-C018-6201-E8E2C6F2E2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4566" y="4254664"/>
            <a:ext cx="2152813" cy="1486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162CEB-A94B-9743-AFC5-4363467F39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0117" y="3299048"/>
            <a:ext cx="2984150" cy="7659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EDB633-D509-0947-80AE-0D0F1A3E17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5662" y="1889619"/>
            <a:ext cx="1184206" cy="12208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B5703B-1BD5-5242-95CE-9C1ED0E065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8325" y="4104590"/>
            <a:ext cx="1106245" cy="11062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0A8F0BD-7197-CC4E-B4C8-4D77342186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2727" y="1590304"/>
            <a:ext cx="2869465" cy="152020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F3711C4A-0101-C446-8595-D215FA8C1CD8}"/>
              </a:ext>
            </a:extLst>
          </p:cNvPr>
          <p:cNvGrpSpPr/>
          <p:nvPr/>
        </p:nvGrpSpPr>
        <p:grpSpPr>
          <a:xfrm>
            <a:off x="0" y="6294065"/>
            <a:ext cx="12192000" cy="711163"/>
            <a:chOff x="0" y="6294065"/>
            <a:chExt cx="12192000" cy="711163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B661E4B-1EED-B341-ACEF-CEB48EBC00AB}"/>
                </a:ext>
              </a:extLst>
            </p:cNvPr>
            <p:cNvGrpSpPr/>
            <p:nvPr/>
          </p:nvGrpSpPr>
          <p:grpSpPr>
            <a:xfrm>
              <a:off x="0" y="6294065"/>
              <a:ext cx="12192000" cy="711163"/>
              <a:chOff x="122664" y="6258765"/>
              <a:chExt cx="12192000" cy="711163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B5A11864-ED8C-274C-8411-E6EEE729C0ED}"/>
                  </a:ext>
                </a:extLst>
              </p:cNvPr>
              <p:cNvGrpSpPr/>
              <p:nvPr/>
            </p:nvGrpSpPr>
            <p:grpSpPr>
              <a:xfrm>
                <a:off x="122664" y="6258765"/>
                <a:ext cx="12192000" cy="599235"/>
                <a:chOff x="92868" y="6079630"/>
                <a:chExt cx="12192000" cy="599235"/>
              </a:xfrm>
            </p:grpSpPr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0D65F312-430E-4742-BEE8-EDF9517F3C2C}"/>
                    </a:ext>
                  </a:extLst>
                </p:cNvPr>
                <p:cNvSpPr/>
                <p:nvPr/>
              </p:nvSpPr>
              <p:spPr>
                <a:xfrm>
                  <a:off x="92868" y="6079630"/>
                  <a:ext cx="12192000" cy="597877"/>
                </a:xfrm>
                <a:prstGeom prst="rect">
                  <a:avLst/>
                </a:prstGeom>
                <a:solidFill>
                  <a:srgbClr val="0086B9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pic>
              <p:nvPicPr>
                <p:cNvPr id="21" name="Picture 20">
                  <a:extLst>
                    <a:ext uri="{FF2B5EF4-FFF2-40B4-BE49-F238E27FC236}">
                      <a16:creationId xmlns:a16="http://schemas.microsoft.com/office/drawing/2014/main" id="{0D4394E5-D108-7248-9E89-F5C351AD43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868" y="6084505"/>
                  <a:ext cx="4135497" cy="594360"/>
                </a:xfrm>
                <a:prstGeom prst="rect">
                  <a:avLst/>
                </a:prstGeom>
              </p:spPr>
            </p:pic>
          </p:grp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0DDD916-D31E-C049-B9DE-9A6B8B68BBA3}"/>
                  </a:ext>
                </a:extLst>
              </p:cNvPr>
              <p:cNvSpPr txBox="1"/>
              <p:nvPr/>
            </p:nvSpPr>
            <p:spPr>
              <a:xfrm>
                <a:off x="4258161" y="6354375"/>
                <a:ext cx="4312667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Разработка мобильного приложения для суммаризации протоколов встреч</a:t>
                </a:r>
                <a:endPara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200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E9064A8-F799-0948-B3F9-D351C79E03D9}"/>
                  </a:ext>
                </a:extLst>
              </p:cNvPr>
              <p:cNvSpPr txBox="1"/>
              <p:nvPr/>
            </p:nvSpPr>
            <p:spPr>
              <a:xfrm>
                <a:off x="8570828" y="6354375"/>
                <a:ext cx="278297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Студент:</a:t>
                </a:r>
                <a:b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Киво Михаил Андреевич, УВП-412</a:t>
                </a:r>
                <a:endPara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568312B-B381-5143-915A-BD3EBBDF73BF}"/>
                </a:ext>
              </a:extLst>
            </p:cNvPr>
            <p:cNvSpPr txBox="1"/>
            <p:nvPr/>
          </p:nvSpPr>
          <p:spPr>
            <a:xfrm>
              <a:off x="11094624" y="6421040"/>
              <a:ext cx="9557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 из 14</a:t>
              </a:r>
              <a:endPara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0D6E036D-376E-DA41-A420-27C845BF229E}"/>
              </a:ext>
            </a:extLst>
          </p:cNvPr>
          <p:cNvSpPr/>
          <p:nvPr/>
        </p:nvSpPr>
        <p:spPr>
          <a:xfrm>
            <a:off x="299298" y="987214"/>
            <a:ext cx="5467969" cy="475391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ru-RU" sz="2000" b="1" dirty="0">
                <a:solidFill>
                  <a:srgbClr val="1A56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Искусственный интеллект</a:t>
            </a:r>
            <a:endParaRPr lang="en-US" sz="2000" b="1" dirty="0">
              <a:solidFill>
                <a:srgbClr val="1A567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4706049-18FD-6746-899E-40CE5CBAB6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91493" y="1904805"/>
            <a:ext cx="1525864" cy="151021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EA559945-481B-0949-ACE2-C9081F3C732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8174" y="1812527"/>
            <a:ext cx="1902157" cy="190215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8AD87B2-73F5-884D-A294-50A48B6F335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2644" y="3636079"/>
            <a:ext cx="2726587" cy="152688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F2A4EDB-C5B9-4641-9599-4B1211B1850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38167" y="3714684"/>
            <a:ext cx="1726781" cy="1726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289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89;p5">
            <a:extLst>
              <a:ext uri="{FF2B5EF4-FFF2-40B4-BE49-F238E27FC236}">
                <a16:creationId xmlns:a16="http://schemas.microsoft.com/office/drawing/2014/main" id="{CC545270-B3BD-F406-EDA6-99C1B2BCC4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4520" y="223707"/>
            <a:ext cx="6801693" cy="803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Arial Black"/>
              <a:buNone/>
            </a:pPr>
            <a:r>
              <a:rPr lang="ru-RU" sz="2400" dirty="0">
                <a:solidFill>
                  <a:srgbClr val="2F5496"/>
                </a:solidFill>
                <a:latin typeface="Arial Black"/>
                <a:ea typeface="Arial Black"/>
                <a:cs typeface="Arial Black"/>
                <a:sym typeface="Arial Black"/>
              </a:rPr>
              <a:t>Этап </a:t>
            </a:r>
            <a:r>
              <a:rPr lang="en-US" sz="2400" dirty="0">
                <a:solidFill>
                  <a:srgbClr val="2F5496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r>
              <a:rPr lang="ru-RU" sz="2400" dirty="0">
                <a:solidFill>
                  <a:srgbClr val="2F5496"/>
                </a:solidFill>
                <a:latin typeface="Arial Black"/>
                <a:ea typeface="Arial Black"/>
                <a:cs typeface="Arial Black"/>
                <a:sym typeface="Arial Black"/>
              </a:rPr>
              <a:t>. Архитектура серверной части</a:t>
            </a:r>
            <a:endParaRPr sz="2400" dirty="0">
              <a:solidFill>
                <a:srgbClr val="2F5496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DFC3B6-BFA7-D24A-8322-29D08F48A309}"/>
              </a:ext>
            </a:extLst>
          </p:cNvPr>
          <p:cNvGrpSpPr/>
          <p:nvPr/>
        </p:nvGrpSpPr>
        <p:grpSpPr>
          <a:xfrm>
            <a:off x="0" y="6294065"/>
            <a:ext cx="12192000" cy="711163"/>
            <a:chOff x="0" y="6294065"/>
            <a:chExt cx="12192000" cy="71116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13DFD05-A6EC-8647-A685-954B58B4F618}"/>
                </a:ext>
              </a:extLst>
            </p:cNvPr>
            <p:cNvGrpSpPr/>
            <p:nvPr/>
          </p:nvGrpSpPr>
          <p:grpSpPr>
            <a:xfrm>
              <a:off x="0" y="6294065"/>
              <a:ext cx="12192000" cy="711163"/>
              <a:chOff x="122664" y="6258765"/>
              <a:chExt cx="12192000" cy="711163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D11FCCC7-2F1F-204E-BB5C-56BCD3C21CFD}"/>
                  </a:ext>
                </a:extLst>
              </p:cNvPr>
              <p:cNvGrpSpPr/>
              <p:nvPr/>
            </p:nvGrpSpPr>
            <p:grpSpPr>
              <a:xfrm>
                <a:off x="122664" y="6258765"/>
                <a:ext cx="12192000" cy="599235"/>
                <a:chOff x="92868" y="6079630"/>
                <a:chExt cx="12192000" cy="599235"/>
              </a:xfrm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4B8153E8-F988-0742-9519-A56994677745}"/>
                    </a:ext>
                  </a:extLst>
                </p:cNvPr>
                <p:cNvSpPr/>
                <p:nvPr/>
              </p:nvSpPr>
              <p:spPr>
                <a:xfrm>
                  <a:off x="92868" y="6079630"/>
                  <a:ext cx="12192000" cy="597877"/>
                </a:xfrm>
                <a:prstGeom prst="rect">
                  <a:avLst/>
                </a:prstGeom>
                <a:solidFill>
                  <a:srgbClr val="0086B9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pic>
              <p:nvPicPr>
                <p:cNvPr id="14" name="Picture 13">
                  <a:extLst>
                    <a:ext uri="{FF2B5EF4-FFF2-40B4-BE49-F238E27FC236}">
                      <a16:creationId xmlns:a16="http://schemas.microsoft.com/office/drawing/2014/main" id="{0BB27723-AC1F-454D-B33F-2063AA9140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868" y="6084505"/>
                  <a:ext cx="4135497" cy="594360"/>
                </a:xfrm>
                <a:prstGeom prst="rect">
                  <a:avLst/>
                </a:prstGeom>
              </p:spPr>
            </p:pic>
          </p:grp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4667BD3-2AE2-A545-B73D-910C81F076B6}"/>
                  </a:ext>
                </a:extLst>
              </p:cNvPr>
              <p:cNvSpPr txBox="1"/>
              <p:nvPr/>
            </p:nvSpPr>
            <p:spPr>
              <a:xfrm>
                <a:off x="4258161" y="6354375"/>
                <a:ext cx="4312667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Разработка мобильного приложения для суммаризации протоколов встреч</a:t>
                </a:r>
                <a:endPara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200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2D1E8F8-B151-4E49-8E7A-FB813C98C749}"/>
                  </a:ext>
                </a:extLst>
              </p:cNvPr>
              <p:cNvSpPr txBox="1"/>
              <p:nvPr/>
            </p:nvSpPr>
            <p:spPr>
              <a:xfrm>
                <a:off x="8570828" y="6354375"/>
                <a:ext cx="278297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Студент:</a:t>
                </a:r>
                <a:b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Киво Михаил Андреевич, УВП-412</a:t>
                </a:r>
                <a:endPara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24D9D31-8787-0947-88BF-9DD5A3901E3A}"/>
                </a:ext>
              </a:extLst>
            </p:cNvPr>
            <p:cNvSpPr txBox="1"/>
            <p:nvPr/>
          </p:nvSpPr>
          <p:spPr>
            <a:xfrm>
              <a:off x="11094624" y="6421040"/>
              <a:ext cx="9557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 из 14</a:t>
              </a:r>
              <a:endPara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F9973A89-FF4D-5946-AAA4-3135236EB5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985" y="1027625"/>
            <a:ext cx="10654030" cy="4903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135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89;p5">
            <a:extLst>
              <a:ext uri="{FF2B5EF4-FFF2-40B4-BE49-F238E27FC236}">
                <a16:creationId xmlns:a16="http://schemas.microsoft.com/office/drawing/2014/main" id="{43252B5C-CA15-47C5-21B7-DA78B09846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5665" y="212125"/>
            <a:ext cx="7959104" cy="682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spcBef>
                <a:spcPts val="0"/>
              </a:spcBef>
              <a:buClr>
                <a:srgbClr val="2F5496"/>
              </a:buClr>
              <a:buSzPts val="2400"/>
            </a:pPr>
            <a:r>
              <a:rPr lang="ru-RU" sz="2400" dirty="0">
                <a:solidFill>
                  <a:srgbClr val="2F5496"/>
                </a:solidFill>
                <a:latin typeface="Arial Black"/>
                <a:ea typeface="Arial Black"/>
                <a:cs typeface="Arial Black"/>
                <a:sym typeface="Arial Black"/>
              </a:rPr>
              <a:t>Этап 5. Реализация клиентской части - Макеты</a:t>
            </a:r>
            <a:endParaRPr sz="2400" dirty="0">
              <a:solidFill>
                <a:srgbClr val="2F5496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1846687-6BF2-A944-8978-BE3E37F8EF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9303" y="1070420"/>
            <a:ext cx="2221271" cy="49620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E0607146-B194-574D-A4B1-54AD0DCA2C66}"/>
              </a:ext>
            </a:extLst>
          </p:cNvPr>
          <p:cNvGrpSpPr/>
          <p:nvPr/>
        </p:nvGrpSpPr>
        <p:grpSpPr>
          <a:xfrm>
            <a:off x="-1" y="6290209"/>
            <a:ext cx="12192000" cy="711163"/>
            <a:chOff x="0" y="6294065"/>
            <a:chExt cx="12192000" cy="71116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41CA69C-734D-FB41-9C14-8FD5ED43313E}"/>
                </a:ext>
              </a:extLst>
            </p:cNvPr>
            <p:cNvGrpSpPr/>
            <p:nvPr/>
          </p:nvGrpSpPr>
          <p:grpSpPr>
            <a:xfrm>
              <a:off x="0" y="6294065"/>
              <a:ext cx="12192000" cy="711163"/>
              <a:chOff x="122664" y="6258765"/>
              <a:chExt cx="12192000" cy="711163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8742D201-0543-6B4E-A472-B66DFB0798AD}"/>
                  </a:ext>
                </a:extLst>
              </p:cNvPr>
              <p:cNvGrpSpPr/>
              <p:nvPr/>
            </p:nvGrpSpPr>
            <p:grpSpPr>
              <a:xfrm>
                <a:off x="122664" y="6258765"/>
                <a:ext cx="12192000" cy="599235"/>
                <a:chOff x="92868" y="6079630"/>
                <a:chExt cx="12192000" cy="599235"/>
              </a:xfrm>
            </p:grpSpPr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46205786-B608-1449-9098-AC465C87B11A}"/>
                    </a:ext>
                  </a:extLst>
                </p:cNvPr>
                <p:cNvSpPr/>
                <p:nvPr/>
              </p:nvSpPr>
              <p:spPr>
                <a:xfrm>
                  <a:off x="92868" y="6079630"/>
                  <a:ext cx="12192000" cy="597877"/>
                </a:xfrm>
                <a:prstGeom prst="rect">
                  <a:avLst/>
                </a:prstGeom>
                <a:solidFill>
                  <a:srgbClr val="0086B9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pic>
              <p:nvPicPr>
                <p:cNvPr id="19" name="Picture 18">
                  <a:extLst>
                    <a:ext uri="{FF2B5EF4-FFF2-40B4-BE49-F238E27FC236}">
                      <a16:creationId xmlns:a16="http://schemas.microsoft.com/office/drawing/2014/main" id="{25A0A76A-26FA-AA49-8F7E-C3003589E1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868" y="6084505"/>
                  <a:ext cx="4135497" cy="594360"/>
                </a:xfrm>
                <a:prstGeom prst="rect">
                  <a:avLst/>
                </a:prstGeom>
              </p:spPr>
            </p:pic>
          </p:grp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7EF419B-F970-C145-BCD3-C611C91D27BF}"/>
                  </a:ext>
                </a:extLst>
              </p:cNvPr>
              <p:cNvSpPr txBox="1"/>
              <p:nvPr/>
            </p:nvSpPr>
            <p:spPr>
              <a:xfrm>
                <a:off x="4258161" y="6354375"/>
                <a:ext cx="4312667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Разработка мобильного приложения для суммаризации протоколов встреч</a:t>
                </a:r>
                <a:endPara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200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2F23EF9-62D4-CA46-8ABA-7ADE05A11AF7}"/>
                  </a:ext>
                </a:extLst>
              </p:cNvPr>
              <p:cNvSpPr txBox="1"/>
              <p:nvPr/>
            </p:nvSpPr>
            <p:spPr>
              <a:xfrm>
                <a:off x="8570828" y="6354375"/>
                <a:ext cx="278297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Студент:</a:t>
                </a:r>
                <a:b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Киво Михаил Андреевич, УВП-412</a:t>
                </a:r>
                <a:endPara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A44154E-F510-474B-983C-F17D27A5E1EA}"/>
                </a:ext>
              </a:extLst>
            </p:cNvPr>
            <p:cNvSpPr txBox="1"/>
            <p:nvPr/>
          </p:nvSpPr>
          <p:spPr>
            <a:xfrm>
              <a:off x="11094624" y="6421040"/>
              <a:ext cx="9557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 из 14</a:t>
              </a:r>
              <a:endPara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5DD2A521-464B-114D-9A21-038932A0B61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4900" y="1070420"/>
            <a:ext cx="2683720" cy="48231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BD346E0-28A9-6141-8687-17D4B80242BE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11" y="1139869"/>
            <a:ext cx="2683720" cy="48231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F90AB2C-3156-9241-AB04-D088A58CA5F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4040" y="1070420"/>
            <a:ext cx="2221272" cy="4960840"/>
          </a:xfrm>
          <a:prstGeom prst="rect">
            <a:avLst/>
          </a:prstGeom>
        </p:spPr>
      </p:pic>
      <p:sp>
        <p:nvSpPr>
          <p:cNvPr id="26" name="Right Arrow 25">
            <a:extLst>
              <a:ext uri="{FF2B5EF4-FFF2-40B4-BE49-F238E27FC236}">
                <a16:creationId xmlns:a16="http://schemas.microsoft.com/office/drawing/2014/main" id="{5F0F27B7-6596-C741-AA5A-0943CEAA6FC9}"/>
              </a:ext>
            </a:extLst>
          </p:cNvPr>
          <p:cNvSpPr/>
          <p:nvPr/>
        </p:nvSpPr>
        <p:spPr>
          <a:xfrm>
            <a:off x="5875753" y="3281209"/>
            <a:ext cx="961292" cy="539262"/>
          </a:xfrm>
          <a:prstGeom prst="rightArrow">
            <a:avLst/>
          </a:prstGeom>
          <a:noFill/>
          <a:ln>
            <a:solidFill>
              <a:schemeClr val="accent2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045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89;p5">
            <a:extLst>
              <a:ext uri="{FF2B5EF4-FFF2-40B4-BE49-F238E27FC236}">
                <a16:creationId xmlns:a16="http://schemas.microsoft.com/office/drawing/2014/main" id="{43252B5C-CA15-47C5-21B7-DA78B09846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4988" y="235115"/>
            <a:ext cx="6924733" cy="682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spcBef>
                <a:spcPts val="0"/>
              </a:spcBef>
              <a:buClr>
                <a:srgbClr val="2F5496"/>
              </a:buClr>
              <a:buSzPts val="2400"/>
            </a:pPr>
            <a:r>
              <a:rPr lang="ru-RU" sz="2400" dirty="0">
                <a:solidFill>
                  <a:srgbClr val="2F5496"/>
                </a:solidFill>
                <a:latin typeface="Arial Black"/>
                <a:ea typeface="Arial Black"/>
                <a:cs typeface="Arial Black"/>
                <a:sym typeface="Arial Black"/>
              </a:rPr>
              <a:t>Этап 5. Архитектура клиентской части</a:t>
            </a:r>
            <a:endParaRPr sz="2400" dirty="0">
              <a:solidFill>
                <a:srgbClr val="2F5496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0607146-B194-574D-A4B1-54AD0DCA2C66}"/>
              </a:ext>
            </a:extLst>
          </p:cNvPr>
          <p:cNvGrpSpPr/>
          <p:nvPr/>
        </p:nvGrpSpPr>
        <p:grpSpPr>
          <a:xfrm>
            <a:off x="-1" y="6290209"/>
            <a:ext cx="12192000" cy="711163"/>
            <a:chOff x="0" y="6294065"/>
            <a:chExt cx="12192000" cy="71116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41CA69C-734D-FB41-9C14-8FD5ED43313E}"/>
                </a:ext>
              </a:extLst>
            </p:cNvPr>
            <p:cNvGrpSpPr/>
            <p:nvPr/>
          </p:nvGrpSpPr>
          <p:grpSpPr>
            <a:xfrm>
              <a:off x="0" y="6294065"/>
              <a:ext cx="12192000" cy="711163"/>
              <a:chOff x="122664" y="6258765"/>
              <a:chExt cx="12192000" cy="711163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8742D201-0543-6B4E-A472-B66DFB0798AD}"/>
                  </a:ext>
                </a:extLst>
              </p:cNvPr>
              <p:cNvGrpSpPr/>
              <p:nvPr/>
            </p:nvGrpSpPr>
            <p:grpSpPr>
              <a:xfrm>
                <a:off x="122664" y="6258765"/>
                <a:ext cx="12192000" cy="599235"/>
                <a:chOff x="92868" y="6079630"/>
                <a:chExt cx="12192000" cy="599235"/>
              </a:xfrm>
            </p:grpSpPr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46205786-B608-1449-9098-AC465C87B11A}"/>
                    </a:ext>
                  </a:extLst>
                </p:cNvPr>
                <p:cNvSpPr/>
                <p:nvPr/>
              </p:nvSpPr>
              <p:spPr>
                <a:xfrm>
                  <a:off x="92868" y="6079630"/>
                  <a:ext cx="12192000" cy="597877"/>
                </a:xfrm>
                <a:prstGeom prst="rect">
                  <a:avLst/>
                </a:prstGeom>
                <a:solidFill>
                  <a:srgbClr val="0086B9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pic>
              <p:nvPicPr>
                <p:cNvPr id="19" name="Picture 18">
                  <a:extLst>
                    <a:ext uri="{FF2B5EF4-FFF2-40B4-BE49-F238E27FC236}">
                      <a16:creationId xmlns:a16="http://schemas.microsoft.com/office/drawing/2014/main" id="{25A0A76A-26FA-AA49-8F7E-C3003589E1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868" y="6084505"/>
                  <a:ext cx="4135497" cy="594360"/>
                </a:xfrm>
                <a:prstGeom prst="rect">
                  <a:avLst/>
                </a:prstGeom>
              </p:spPr>
            </p:pic>
          </p:grp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7EF419B-F970-C145-BCD3-C611C91D27BF}"/>
                  </a:ext>
                </a:extLst>
              </p:cNvPr>
              <p:cNvSpPr txBox="1"/>
              <p:nvPr/>
            </p:nvSpPr>
            <p:spPr>
              <a:xfrm>
                <a:off x="4258161" y="6354375"/>
                <a:ext cx="4312667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Разработка мобильного приложения для суммаризации протоколов встреч</a:t>
                </a:r>
                <a:endPara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200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2F23EF9-62D4-CA46-8ABA-7ADE05A11AF7}"/>
                  </a:ext>
                </a:extLst>
              </p:cNvPr>
              <p:cNvSpPr txBox="1"/>
              <p:nvPr/>
            </p:nvSpPr>
            <p:spPr>
              <a:xfrm>
                <a:off x="8570828" y="6354375"/>
                <a:ext cx="278297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Студент:</a:t>
                </a:r>
                <a:b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Киво Михаил Андреевич, УВП-412</a:t>
                </a:r>
                <a:endPara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A44154E-F510-474B-983C-F17D27A5E1EA}"/>
                </a:ext>
              </a:extLst>
            </p:cNvPr>
            <p:cNvSpPr txBox="1"/>
            <p:nvPr/>
          </p:nvSpPr>
          <p:spPr>
            <a:xfrm>
              <a:off x="11094624" y="6421040"/>
              <a:ext cx="10839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 из 14</a:t>
              </a:r>
              <a:endPara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73696DC8-8319-2A40-865F-B678957741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309" y="1608476"/>
            <a:ext cx="11755379" cy="3641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414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89;p5">
            <a:extLst>
              <a:ext uri="{FF2B5EF4-FFF2-40B4-BE49-F238E27FC236}">
                <a16:creationId xmlns:a16="http://schemas.microsoft.com/office/drawing/2014/main" id="{43252B5C-CA15-47C5-21B7-DA78B09846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4988" y="235115"/>
            <a:ext cx="8569938" cy="682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spcBef>
                <a:spcPts val="0"/>
              </a:spcBef>
              <a:buClr>
                <a:srgbClr val="2F5496"/>
              </a:buClr>
              <a:buSzPts val="2400"/>
            </a:pPr>
            <a:r>
              <a:rPr lang="ru-RU" sz="2400" dirty="0">
                <a:solidFill>
                  <a:srgbClr val="2F5496"/>
                </a:solidFill>
                <a:latin typeface="Arial Black"/>
                <a:ea typeface="Arial Black"/>
                <a:cs typeface="Arial Black"/>
                <a:sym typeface="Arial Black"/>
              </a:rPr>
              <a:t>Этап 6. Тестирование и развертывание</a:t>
            </a:r>
            <a:endParaRPr sz="2400" dirty="0">
              <a:solidFill>
                <a:srgbClr val="2F5496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0607146-B194-574D-A4B1-54AD0DCA2C66}"/>
              </a:ext>
            </a:extLst>
          </p:cNvPr>
          <p:cNvGrpSpPr/>
          <p:nvPr/>
        </p:nvGrpSpPr>
        <p:grpSpPr>
          <a:xfrm>
            <a:off x="-1" y="6290209"/>
            <a:ext cx="12192000" cy="711163"/>
            <a:chOff x="0" y="6294065"/>
            <a:chExt cx="12192000" cy="71116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41CA69C-734D-FB41-9C14-8FD5ED43313E}"/>
                </a:ext>
              </a:extLst>
            </p:cNvPr>
            <p:cNvGrpSpPr/>
            <p:nvPr/>
          </p:nvGrpSpPr>
          <p:grpSpPr>
            <a:xfrm>
              <a:off x="0" y="6294065"/>
              <a:ext cx="12192000" cy="711163"/>
              <a:chOff x="122664" y="6258765"/>
              <a:chExt cx="12192000" cy="711163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8742D201-0543-6B4E-A472-B66DFB0798AD}"/>
                  </a:ext>
                </a:extLst>
              </p:cNvPr>
              <p:cNvGrpSpPr/>
              <p:nvPr/>
            </p:nvGrpSpPr>
            <p:grpSpPr>
              <a:xfrm>
                <a:off x="122664" y="6258765"/>
                <a:ext cx="12192000" cy="599235"/>
                <a:chOff x="92868" y="6079630"/>
                <a:chExt cx="12192000" cy="599235"/>
              </a:xfrm>
            </p:grpSpPr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46205786-B608-1449-9098-AC465C87B11A}"/>
                    </a:ext>
                  </a:extLst>
                </p:cNvPr>
                <p:cNvSpPr/>
                <p:nvPr/>
              </p:nvSpPr>
              <p:spPr>
                <a:xfrm>
                  <a:off x="92868" y="6079630"/>
                  <a:ext cx="12192000" cy="597877"/>
                </a:xfrm>
                <a:prstGeom prst="rect">
                  <a:avLst/>
                </a:prstGeom>
                <a:solidFill>
                  <a:srgbClr val="0086B9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pic>
              <p:nvPicPr>
                <p:cNvPr id="19" name="Picture 18">
                  <a:extLst>
                    <a:ext uri="{FF2B5EF4-FFF2-40B4-BE49-F238E27FC236}">
                      <a16:creationId xmlns:a16="http://schemas.microsoft.com/office/drawing/2014/main" id="{25A0A76A-26FA-AA49-8F7E-C3003589E1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868" y="6084505"/>
                  <a:ext cx="4135497" cy="594360"/>
                </a:xfrm>
                <a:prstGeom prst="rect">
                  <a:avLst/>
                </a:prstGeom>
              </p:spPr>
            </p:pic>
          </p:grp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7EF419B-F970-C145-BCD3-C611C91D27BF}"/>
                  </a:ext>
                </a:extLst>
              </p:cNvPr>
              <p:cNvSpPr txBox="1"/>
              <p:nvPr/>
            </p:nvSpPr>
            <p:spPr>
              <a:xfrm>
                <a:off x="4258161" y="6354375"/>
                <a:ext cx="4312667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Разработка мобильного приложения для суммаризации протоколов встреч</a:t>
                </a:r>
                <a:endPara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200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2F23EF9-62D4-CA46-8ABA-7ADE05A11AF7}"/>
                  </a:ext>
                </a:extLst>
              </p:cNvPr>
              <p:cNvSpPr txBox="1"/>
              <p:nvPr/>
            </p:nvSpPr>
            <p:spPr>
              <a:xfrm>
                <a:off x="8570828" y="6354375"/>
                <a:ext cx="278297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Студент:</a:t>
                </a:r>
                <a:b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Киво Михаил Андреевич, УВП-412</a:t>
                </a:r>
                <a:endPara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A44154E-F510-474B-983C-F17D27A5E1EA}"/>
                </a:ext>
              </a:extLst>
            </p:cNvPr>
            <p:cNvSpPr txBox="1"/>
            <p:nvPr/>
          </p:nvSpPr>
          <p:spPr>
            <a:xfrm>
              <a:off x="11094624" y="6421040"/>
              <a:ext cx="10711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 из 14</a:t>
              </a:r>
              <a:endPara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A154A52A-B460-D94D-8F75-79F8A900B74E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61" t="17662"/>
          <a:stretch/>
        </p:blipFill>
        <p:spPr>
          <a:xfrm>
            <a:off x="161533" y="2315423"/>
            <a:ext cx="6954253" cy="362455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BC1A575-B9C9-D34A-B2A7-0D5847B9C824}"/>
              </a:ext>
            </a:extLst>
          </p:cNvPr>
          <p:cNvSpPr/>
          <p:nvPr/>
        </p:nvSpPr>
        <p:spPr>
          <a:xfrm>
            <a:off x="164988" y="918021"/>
            <a:ext cx="275523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A2A5E"/>
                </a:solidFill>
              </a:rPr>
              <a:t>М</a:t>
            </a:r>
            <a:r>
              <a:rPr lang="ru-RU" sz="2400" b="1" dirty="0">
                <a:solidFill>
                  <a:srgbClr val="1A2A5E"/>
                </a:solidFill>
              </a:rPr>
              <a:t>одульное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rgbClr val="1A2A5E"/>
                </a:solidFill>
              </a:rPr>
              <a:t>Интеграционное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rgbClr val="F47920"/>
                </a:solidFill>
              </a:rPr>
              <a:t>Нагрузочное</a:t>
            </a:r>
            <a:endParaRPr lang="en-US" sz="2400" b="1" dirty="0">
              <a:solidFill>
                <a:srgbClr val="F4792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F150AD-8E35-CD4F-8BAC-47BF51C5C7F4}"/>
              </a:ext>
            </a:extLst>
          </p:cNvPr>
          <p:cNvSpPr/>
          <p:nvPr/>
        </p:nvSpPr>
        <p:spPr>
          <a:xfrm>
            <a:off x="8862955" y="918021"/>
            <a:ext cx="275523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F47920"/>
                </a:solidFill>
              </a:rPr>
              <a:t>Среда развертывания –</a:t>
            </a:r>
            <a:r>
              <a:rPr lang="ru-RU" sz="2400" b="1" dirty="0">
                <a:solidFill>
                  <a:srgbClr val="1A2A5E"/>
                </a:solidFill>
              </a:rPr>
              <a:t> </a:t>
            </a:r>
            <a:r>
              <a:rPr lang="en-US" sz="2400" b="1" dirty="0">
                <a:solidFill>
                  <a:srgbClr val="1A2A5E"/>
                </a:solidFill>
              </a:rPr>
              <a:t>Docker Compose</a:t>
            </a:r>
            <a:endParaRPr lang="ru-RU" sz="2400" b="1" dirty="0">
              <a:solidFill>
                <a:srgbClr val="1A2A5E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A220C0F-8B09-2E41-980F-9D4B94198B97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958"/>
          <a:stretch/>
        </p:blipFill>
        <p:spPr>
          <a:xfrm>
            <a:off x="7598196" y="2468580"/>
            <a:ext cx="4432271" cy="3471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372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89;p5">
            <a:extLst>
              <a:ext uri="{FF2B5EF4-FFF2-40B4-BE49-F238E27FC236}">
                <a16:creationId xmlns:a16="http://schemas.microsoft.com/office/drawing/2014/main" id="{62817CD3-DEA7-C143-2025-3AE3C1D03D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7015" y="355275"/>
            <a:ext cx="6127688" cy="426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Arial Black"/>
              <a:buNone/>
            </a:pPr>
            <a:r>
              <a:rPr lang="ru-RU" sz="2400" dirty="0">
                <a:solidFill>
                  <a:srgbClr val="2F5496"/>
                </a:solidFill>
                <a:latin typeface="Arial Black"/>
                <a:ea typeface="Arial Black"/>
                <a:cs typeface="Arial Black"/>
                <a:sym typeface="Arial Black"/>
              </a:rPr>
              <a:t>Демонстрация</a:t>
            </a:r>
            <a:endParaRPr sz="2400" dirty="0">
              <a:solidFill>
                <a:srgbClr val="2F5496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8A13C74-9A56-3F45-9A97-7561DB6CD3A8}"/>
              </a:ext>
            </a:extLst>
          </p:cNvPr>
          <p:cNvGrpSpPr/>
          <p:nvPr/>
        </p:nvGrpSpPr>
        <p:grpSpPr>
          <a:xfrm>
            <a:off x="0" y="6294065"/>
            <a:ext cx="12192000" cy="711163"/>
            <a:chOff x="0" y="6294065"/>
            <a:chExt cx="12192000" cy="71116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90CF75F-8EDA-7246-8870-F4321D382396}"/>
                </a:ext>
              </a:extLst>
            </p:cNvPr>
            <p:cNvGrpSpPr/>
            <p:nvPr/>
          </p:nvGrpSpPr>
          <p:grpSpPr>
            <a:xfrm>
              <a:off x="0" y="6294065"/>
              <a:ext cx="12192000" cy="711163"/>
              <a:chOff x="122664" y="6258765"/>
              <a:chExt cx="12192000" cy="711163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21758A10-BD5E-CB44-A923-2705FABB9194}"/>
                  </a:ext>
                </a:extLst>
              </p:cNvPr>
              <p:cNvGrpSpPr/>
              <p:nvPr/>
            </p:nvGrpSpPr>
            <p:grpSpPr>
              <a:xfrm>
                <a:off x="122664" y="6258765"/>
                <a:ext cx="12192000" cy="599235"/>
                <a:chOff x="92868" y="6079630"/>
                <a:chExt cx="12192000" cy="599235"/>
              </a:xfrm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E22682F2-2A0B-B447-B9AF-4B7E2BC2628B}"/>
                    </a:ext>
                  </a:extLst>
                </p:cNvPr>
                <p:cNvSpPr/>
                <p:nvPr/>
              </p:nvSpPr>
              <p:spPr>
                <a:xfrm>
                  <a:off x="92868" y="6079630"/>
                  <a:ext cx="12192000" cy="597877"/>
                </a:xfrm>
                <a:prstGeom prst="rect">
                  <a:avLst/>
                </a:prstGeom>
                <a:solidFill>
                  <a:srgbClr val="0086B9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pic>
              <p:nvPicPr>
                <p:cNvPr id="12" name="Picture 11">
                  <a:extLst>
                    <a:ext uri="{FF2B5EF4-FFF2-40B4-BE49-F238E27FC236}">
                      <a16:creationId xmlns:a16="http://schemas.microsoft.com/office/drawing/2014/main" id="{09579DD8-1D77-9944-AFC9-9D08C7455C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868" y="6084505"/>
                  <a:ext cx="4135497" cy="594360"/>
                </a:xfrm>
                <a:prstGeom prst="rect">
                  <a:avLst/>
                </a:prstGeom>
              </p:spPr>
            </p:pic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9E202E0-753A-7442-9937-473480BC38E7}"/>
                  </a:ext>
                </a:extLst>
              </p:cNvPr>
              <p:cNvSpPr txBox="1"/>
              <p:nvPr/>
            </p:nvSpPr>
            <p:spPr>
              <a:xfrm>
                <a:off x="4258161" y="6354375"/>
                <a:ext cx="4312667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Разработка мобильного приложения для суммаризации протоколов встреч</a:t>
                </a:r>
                <a:endPara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200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A4D26CE-978C-C541-85BB-56C1199EE1E7}"/>
                  </a:ext>
                </a:extLst>
              </p:cNvPr>
              <p:cNvSpPr txBox="1"/>
              <p:nvPr/>
            </p:nvSpPr>
            <p:spPr>
              <a:xfrm>
                <a:off x="8570828" y="6354375"/>
                <a:ext cx="278297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Студент:</a:t>
                </a:r>
                <a:b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Киво Михаил Андреевич, УВП-412</a:t>
                </a:r>
                <a:endPara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60A3434-BBD1-0A4F-A6C0-B56F5A22170A}"/>
                </a:ext>
              </a:extLst>
            </p:cNvPr>
            <p:cNvSpPr txBox="1"/>
            <p:nvPr/>
          </p:nvSpPr>
          <p:spPr>
            <a:xfrm>
              <a:off x="11094624" y="6421040"/>
              <a:ext cx="10839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 из 14</a:t>
              </a:r>
              <a:endPara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3" name="Online Media 12" descr="video_2026-06-08_19-01-22">
            <a:hlinkClick r:id="" action="ppaction://media"/>
            <a:extLst>
              <a:ext uri="{FF2B5EF4-FFF2-40B4-BE49-F238E27FC236}">
                <a16:creationId xmlns:a16="http://schemas.microsoft.com/office/drawing/2014/main" id="{4855DCEC-A841-2F46-8E91-4CB880A0851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739816" y="135870"/>
            <a:ext cx="2712367" cy="6068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188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3636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89;p5">
            <a:extLst>
              <a:ext uri="{FF2B5EF4-FFF2-40B4-BE49-F238E27FC236}">
                <a16:creationId xmlns:a16="http://schemas.microsoft.com/office/drawing/2014/main" id="{B0C1B608-9703-E85D-2380-6020958655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1039" y="399849"/>
            <a:ext cx="5438099" cy="49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spcBef>
                <a:spcPts val="0"/>
              </a:spcBef>
              <a:buClr>
                <a:srgbClr val="2F5496"/>
              </a:buClr>
              <a:buSzPts val="2400"/>
            </a:pPr>
            <a:r>
              <a:rPr lang="ru-RU" sz="2400" dirty="0">
                <a:solidFill>
                  <a:srgbClr val="2F5496"/>
                </a:solidFill>
                <a:latin typeface="Arial Black"/>
                <a:ea typeface="Arial Black"/>
                <a:cs typeface="Arial Black"/>
                <a:sym typeface="Arial Black"/>
              </a:rPr>
              <a:t>Заключение</a:t>
            </a:r>
            <a:endParaRPr sz="2400" dirty="0">
              <a:solidFill>
                <a:srgbClr val="2F5496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8E18D99-D790-474E-A97A-1018B4906F4C}"/>
              </a:ext>
            </a:extLst>
          </p:cNvPr>
          <p:cNvGrpSpPr/>
          <p:nvPr/>
        </p:nvGrpSpPr>
        <p:grpSpPr>
          <a:xfrm>
            <a:off x="0" y="6294065"/>
            <a:ext cx="12192000" cy="711163"/>
            <a:chOff x="0" y="6294065"/>
            <a:chExt cx="12192000" cy="71116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6D7880E-BB2F-FC44-8894-9AD2EE713550}"/>
                </a:ext>
              </a:extLst>
            </p:cNvPr>
            <p:cNvGrpSpPr/>
            <p:nvPr/>
          </p:nvGrpSpPr>
          <p:grpSpPr>
            <a:xfrm>
              <a:off x="0" y="6294065"/>
              <a:ext cx="12192000" cy="711163"/>
              <a:chOff x="122664" y="6258765"/>
              <a:chExt cx="12192000" cy="711163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FCAF0BCE-4F8F-1D42-AF6B-8A87CCDBEFA2}"/>
                  </a:ext>
                </a:extLst>
              </p:cNvPr>
              <p:cNvGrpSpPr/>
              <p:nvPr/>
            </p:nvGrpSpPr>
            <p:grpSpPr>
              <a:xfrm>
                <a:off x="122664" y="6258765"/>
                <a:ext cx="12192000" cy="599235"/>
                <a:chOff x="92868" y="6079630"/>
                <a:chExt cx="12192000" cy="599235"/>
              </a:xfrm>
            </p:grpSpPr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C19FB36E-D355-7B4C-9FA3-C60486898889}"/>
                    </a:ext>
                  </a:extLst>
                </p:cNvPr>
                <p:cNvSpPr/>
                <p:nvPr/>
              </p:nvSpPr>
              <p:spPr>
                <a:xfrm>
                  <a:off x="92868" y="6079630"/>
                  <a:ext cx="12192000" cy="597877"/>
                </a:xfrm>
                <a:prstGeom prst="rect">
                  <a:avLst/>
                </a:prstGeom>
                <a:solidFill>
                  <a:srgbClr val="0086B9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pic>
              <p:nvPicPr>
                <p:cNvPr id="11" name="Picture 10">
                  <a:extLst>
                    <a:ext uri="{FF2B5EF4-FFF2-40B4-BE49-F238E27FC236}">
                      <a16:creationId xmlns:a16="http://schemas.microsoft.com/office/drawing/2014/main" id="{7B4CB8AB-CA8D-E442-B6C5-1F7BA5B593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868" y="6084505"/>
                  <a:ext cx="4135497" cy="594360"/>
                </a:xfrm>
                <a:prstGeom prst="rect">
                  <a:avLst/>
                </a:prstGeom>
              </p:spPr>
            </p:pic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30283D4-3EAE-424A-A456-E529B22FE70A}"/>
                  </a:ext>
                </a:extLst>
              </p:cNvPr>
              <p:cNvSpPr txBox="1"/>
              <p:nvPr/>
            </p:nvSpPr>
            <p:spPr>
              <a:xfrm>
                <a:off x="4258161" y="6354375"/>
                <a:ext cx="4312667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Разработка мобильного приложения для суммаризации протоколов встреч</a:t>
                </a:r>
                <a:endPara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200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9C539E6-7790-C741-925A-F436D2F53EC0}"/>
                  </a:ext>
                </a:extLst>
              </p:cNvPr>
              <p:cNvSpPr txBox="1"/>
              <p:nvPr/>
            </p:nvSpPr>
            <p:spPr>
              <a:xfrm>
                <a:off x="8570828" y="6354375"/>
                <a:ext cx="278297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Студент:</a:t>
                </a:r>
                <a:b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ru-RU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Киво Михаил Андреевич, УВП-412</a:t>
                </a:r>
                <a:endPara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57E904E-D5F8-7F49-8D3D-B194E7DDF187}"/>
                </a:ext>
              </a:extLst>
            </p:cNvPr>
            <p:cNvSpPr txBox="1"/>
            <p:nvPr/>
          </p:nvSpPr>
          <p:spPr>
            <a:xfrm>
              <a:off x="11094624" y="6421040"/>
              <a:ext cx="10839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13 из 14</a:t>
              </a:r>
              <a:endPara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AC9A837-828F-D147-AA41-5333A5E8D8BC}"/>
              </a:ext>
            </a:extLst>
          </p:cNvPr>
          <p:cNvSpPr/>
          <p:nvPr/>
        </p:nvSpPr>
        <p:spPr>
          <a:xfrm>
            <a:off x="175755" y="1343837"/>
            <a:ext cx="10094910" cy="1813591"/>
          </a:xfrm>
          <a:prstGeom prst="round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b="1" dirty="0">
                <a:solidFill>
                  <a:srgbClr val="1A56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результате выполнения работы достигнуты все поставленные цели. </a:t>
            </a:r>
          </a:p>
          <a:p>
            <a:pPr algn="just"/>
            <a:r>
              <a:rPr lang="ru-RU" dirty="0">
                <a:solidFill>
                  <a:srgbClr val="1A56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Разработано мобильное приложение для суммаризации протоколов встреч, которое позволяет пользователям получать быструю суммаризацию, дает возможность задавать вопросы по встрече и чувствовать себя естественно во время записи встречи.</a:t>
            </a:r>
          </a:p>
          <a:p>
            <a:pPr algn="ctr"/>
            <a:endParaRPr lang="en-US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6B32143-5FDC-1246-8329-E569C372701B}"/>
              </a:ext>
            </a:extLst>
          </p:cNvPr>
          <p:cNvSpPr/>
          <p:nvPr/>
        </p:nvSpPr>
        <p:spPr>
          <a:xfrm>
            <a:off x="131061" y="3439129"/>
            <a:ext cx="10094910" cy="2343883"/>
          </a:xfrm>
          <a:prstGeom prst="round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b="1" dirty="0">
                <a:solidFill>
                  <a:srgbClr val="1A56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Выполненные задачи: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1A56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Проанализирована предметная область и существующие решения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1A56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Спроектирована архитектура системы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1A56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Реализована серверная часть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1A56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Реализован мобильный клиент на базе A</a:t>
            </a:r>
            <a:r>
              <a:rPr lang="en-US" dirty="0">
                <a:solidFill>
                  <a:srgbClr val="1A56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ndroid</a:t>
            </a:r>
            <a:endParaRPr lang="ru-RU" dirty="0">
              <a:solidFill>
                <a:srgbClr val="1A567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1A56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Подобран промпт для фильтрации неформального контента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1A56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Выбрана модель для транскрибации аудио файлов</a:t>
            </a:r>
          </a:p>
          <a:p>
            <a:endParaRPr lang="en-US" dirty="0">
              <a:solidFill>
                <a:srgbClr val="1A567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F2B0280-EB96-FC43-8C86-41A97CEBBC97}"/>
              </a:ext>
            </a:extLst>
          </p:cNvPr>
          <p:cNvSpPr/>
          <p:nvPr/>
        </p:nvSpPr>
        <p:spPr>
          <a:xfrm>
            <a:off x="7339584" y="4559808"/>
            <a:ext cx="4595849" cy="1480944"/>
          </a:xfrm>
          <a:prstGeom prst="round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1A56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Объем выполненной работы: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1A56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Количество модулей: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1A56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Количество файлов исходного кода:</a:t>
            </a:r>
            <a:r>
              <a:rPr lang="en-US" sz="1600" dirty="0">
                <a:solidFill>
                  <a:srgbClr val="1A56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197</a:t>
            </a:r>
            <a:r>
              <a:rPr lang="ru-RU" sz="1600" dirty="0">
                <a:solidFill>
                  <a:srgbClr val="1A56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1A56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Общее количество строк кода: </a:t>
            </a:r>
            <a:r>
              <a:rPr lang="en-US" sz="1600" dirty="0">
                <a:solidFill>
                  <a:srgbClr val="1A56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95</a:t>
            </a:r>
            <a:r>
              <a:rPr lang="ru-RU" sz="1600" dirty="0">
                <a:solidFill>
                  <a:srgbClr val="1A56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1600" dirty="0">
                <a:solidFill>
                  <a:srgbClr val="1A56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4543691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1937962770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1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6308</TotalTime>
  <Words>485</Words>
  <Application>Microsoft Macintosh PowerPoint</Application>
  <PresentationFormat>Widescreen</PresentationFormat>
  <Paragraphs>106</Paragraphs>
  <Slides>14</Slides>
  <Notes>4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Arial Black</vt:lpstr>
      <vt:lpstr>Calibri</vt:lpstr>
      <vt:lpstr>Montserrat</vt:lpstr>
      <vt:lpstr>Специальное оформление</vt:lpstr>
      <vt:lpstr>Разработка мобильного приложения для суммаризации протоколов встреч</vt:lpstr>
      <vt:lpstr>Актуальность: самая распространённая фраза на встречах, которую вы слышите?</vt:lpstr>
      <vt:lpstr>PowerPoint Presentation</vt:lpstr>
      <vt:lpstr>План разработки проекта</vt:lpstr>
      <vt:lpstr>Этап 1. Требования</vt:lpstr>
      <vt:lpstr>Этап 2. Компонентная диаграмма</vt:lpstr>
      <vt:lpstr>Этап 3. Выбор технологий и моделей ИИ</vt:lpstr>
      <vt:lpstr>Этап 4. Архитектура серверной части</vt:lpstr>
      <vt:lpstr>Этап 5. Реализация клиентской части - Макеты</vt:lpstr>
      <vt:lpstr>Этап 5. Архитектура клиентской части</vt:lpstr>
      <vt:lpstr>Этап 6. Тестирование и развертывание</vt:lpstr>
      <vt:lpstr>Демонстрация</vt:lpstr>
      <vt:lpstr>Заключение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Сороковиков Максим Николаевич</dc:creator>
  <cp:lastModifiedBy>Microsoft Office User</cp:lastModifiedBy>
  <cp:revision>160</cp:revision>
  <cp:lastPrinted>2026-06-10T06:36:13Z</cp:lastPrinted>
  <dcterms:created xsi:type="dcterms:W3CDTF">2024-04-26T12:45:20Z</dcterms:created>
  <dcterms:modified xsi:type="dcterms:W3CDTF">2026-06-10T17:19:52Z</dcterms:modified>
</cp:coreProperties>
</file>